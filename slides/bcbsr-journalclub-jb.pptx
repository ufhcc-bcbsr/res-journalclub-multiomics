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62" r:id="rId3"/>
    <p:sldId id="263" r:id="rId4"/>
    <p:sldId id="264" r:id="rId5"/>
    <p:sldId id="257" r:id="rId6"/>
    <p:sldId id="265" r:id="rId7"/>
    <p:sldId id="266" r:id="rId8"/>
    <p:sldId id="267" r:id="rId9"/>
    <p:sldId id="25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howGuides="1">
      <p:cViewPr varScale="1">
        <p:scale>
          <a:sx n="101" d="100"/>
          <a:sy n="101" d="100"/>
        </p:scale>
        <p:origin x="912"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0E1627-848B-4160-91B8-5116B52E5E2C}" type="datetimeFigureOut">
              <a:rPr lang="en-US" smtClean="0"/>
              <a:t>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FBA08E-7673-45D2-B913-8D237C49F3A1}" type="slidenum">
              <a:rPr lang="en-US" smtClean="0"/>
              <a:t>‹#›</a:t>
            </a:fld>
            <a:endParaRPr lang="en-US"/>
          </a:p>
        </p:txBody>
      </p:sp>
    </p:spTree>
    <p:extLst>
      <p:ext uri="{BB962C8B-B14F-4D97-AF65-F5344CB8AC3E}">
        <p14:creationId xmlns:p14="http://schemas.microsoft.com/office/powerpoint/2010/main" val="3788774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So before we talk about integrative approaches, let's look at how multiomics was traditionally handled — and honestly, how it's still done in many studies today.</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idea is straightforward. You take each omics layer and run it through its own well-established pipeline. RNA-seq goes through DESeq2, methylation data goes through limma or </a:t>
            </a:r>
            <a:r>
              <a:rPr lang="en-US" sz="1200" b="0" kern="1200" dirty="0" err="1">
                <a:solidFill>
                  <a:schemeClr val="tx1"/>
                </a:solidFill>
                <a:effectLst/>
                <a:latin typeface="+mn-lt"/>
                <a:ea typeface="+mn-ea"/>
                <a:cs typeface="+mn-cs"/>
              </a:rPr>
              <a:t>DMRcate</a:t>
            </a:r>
            <a:r>
              <a:rPr lang="en-US" sz="1200" b="0" kern="1200" dirty="0">
                <a:solidFill>
                  <a:schemeClr val="tx1"/>
                </a:solidFill>
                <a:effectLst/>
                <a:latin typeface="+mn-lt"/>
                <a:ea typeface="+mn-ea"/>
                <a:cs typeface="+mn-cs"/>
              </a:rPr>
              <a:t>, proteomics through </a:t>
            </a:r>
            <a:r>
              <a:rPr lang="en-US" sz="1200" b="0" kern="1200" dirty="0" err="1">
                <a:solidFill>
                  <a:schemeClr val="tx1"/>
                </a:solidFill>
                <a:effectLst/>
                <a:latin typeface="+mn-lt"/>
                <a:ea typeface="+mn-ea"/>
                <a:cs typeface="+mn-cs"/>
              </a:rPr>
              <a:t>MaxQuant</a:t>
            </a:r>
            <a:r>
              <a:rPr lang="en-US" sz="1200" b="0" kern="1200" dirty="0">
                <a:solidFill>
                  <a:schemeClr val="tx1"/>
                </a:solidFill>
                <a:effectLst/>
                <a:latin typeface="+mn-lt"/>
                <a:ea typeface="+mn-ea"/>
                <a:cs typeface="+mn-cs"/>
              </a:rPr>
              <a:t> — whatever the gold standard is for that data type. Each pipeline produces its own list of significant hits using its own statistical thresholds.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Then, at the very end, you compare those lists. You take your downregulated genes and your hypermethylated promoters and you ask: where do they overlap? That intersection — genes that are both silenced and hypermethylated — gives you your candidate tumor suppressors, for example. This is exactly what the early TCGA studies did for breast and colorectal cancer. It works, it's intuitive, and it's easy to interpret. But it has some real limitations.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So what's the problem with this overlap approach? There are four key issues.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First, you lose sub-threshold signal. If a gene has a modest expression change at p equals 0.08 and a modest methylation change at p equals 0.06, it fails both filters independently — even though the coordinated signal across both layers might be highly significant. You're systematically discarding moderate-effect biology.</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Second, you can't model cross-layer interactions. A phosphorylation event driving a transcriptional change is invisible when those two data types are analyzed in completely separate pipelines.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Third, the feature spaces are fundamentally different — 20,000 genes versus half a million ATAC peaks versus a few thousand metabolites, all with different distributions and sparsity levels. A Venn diagram doesn't account for any of that.</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And fourth, this compounds statistically. If each layer has 80% power, intersecting them gives you roughly 64% power. The more layers you add, the worse it gets. So we need approaches that model these layers jointly.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So how do we do better? There are three main families of integrative methods, and they each solve the problem differently.</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first is latent factor models — tools like MOFA2, </a:t>
            </a:r>
            <a:r>
              <a:rPr lang="en-US" sz="1200" b="0" kern="1200" dirty="0" err="1">
                <a:solidFill>
                  <a:schemeClr val="tx1"/>
                </a:solidFill>
                <a:effectLst/>
                <a:latin typeface="+mn-lt"/>
                <a:ea typeface="+mn-ea"/>
                <a:cs typeface="+mn-cs"/>
              </a:rPr>
              <a:t>iCluster</a:t>
            </a:r>
            <a:r>
              <a:rPr lang="en-US" sz="1200" b="0" kern="1200" dirty="0">
                <a:solidFill>
                  <a:schemeClr val="tx1"/>
                </a:solidFill>
                <a:effectLst/>
                <a:latin typeface="+mn-lt"/>
                <a:ea typeface="+mn-ea"/>
                <a:cs typeface="+mn-cs"/>
              </a:rPr>
              <a:t>+, and DIABLO. These decompose all your omics layers simultaneously into shared latent factors. The key advantage is that they borrow statistical strength across modalities, so they can recover coordinated signals that are too weak to survive independent thresholding.</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second family is regulatory network inference — COSMOS, SCENIC+, LINGER. These are knowledge-guided. They incorporate prior information about TF binding motifs, signaling cascades, and metabolic pathways to build directed, causal models of how changes propagate from epigenome to transcriptome to proteome.</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And the third is deep learning fusion — </a:t>
            </a:r>
            <a:r>
              <a:rPr lang="en-US" sz="1200" b="0" kern="1200" dirty="0" err="1">
                <a:solidFill>
                  <a:schemeClr val="tx1"/>
                </a:solidFill>
                <a:effectLst/>
                <a:latin typeface="+mn-lt"/>
                <a:ea typeface="+mn-ea"/>
                <a:cs typeface="+mn-cs"/>
              </a:rPr>
              <a:t>CrossAttOmics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MultiGATE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scGLUE</a:t>
            </a:r>
            <a:r>
              <a:rPr lang="en-US" sz="1200" b="0" kern="1200" dirty="0">
                <a:solidFill>
                  <a:schemeClr val="tx1"/>
                </a:solidFill>
                <a:effectLst/>
                <a:latin typeface="+mn-lt"/>
                <a:ea typeface="+mn-ea"/>
                <a:cs typeface="+mn-cs"/>
              </a:rPr>
              <a:t>. These use attention mechanisms and graph neural networks to handle the heterogeneity problem natively: mismatched dimensions, different data types, batch effects, paired or unpaired designs.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unifying theme is that all of these recover biology that is simply invisible to the overlap approach.</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Let me walk you through why you can't just throw these data types into the same model naively. This table makes it concrete.</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Look at the data types first. RNA-seq gives you discrete UMI counts. Proteomics gives you continuous intensity values. Methylation arrays give you beta values bounded between zero and one. These have fundamentally different statistical distributions — you can't apply the same normalization or the same test to all of them.</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Now look at dimensionality. RNA-seq measures around 20,000 genes. </a:t>
            </a:r>
            <a:r>
              <a:rPr lang="en-US" sz="1200" b="0" kern="1200" dirty="0" err="1">
                <a:solidFill>
                  <a:schemeClr val="tx1"/>
                </a:solidFill>
                <a:effectLst/>
                <a:latin typeface="+mn-lt"/>
                <a:ea typeface="+mn-ea"/>
                <a:cs typeface="+mn-cs"/>
              </a:rPr>
              <a:t>scATAC</a:t>
            </a:r>
            <a:r>
              <a:rPr lang="en-US" sz="1200" b="0" kern="1200" dirty="0">
                <a:solidFill>
                  <a:schemeClr val="tx1"/>
                </a:solidFill>
                <a:effectLst/>
                <a:latin typeface="+mn-lt"/>
                <a:ea typeface="+mn-ea"/>
                <a:cs typeface="+mn-cs"/>
              </a:rPr>
              <a:t>-seq can have half a million peaks. Methylation arrays, up to 850,000 CpG sites. Metabolomics might give you a few thousand features. These are wildly different feature spaces, and there's no guaranteed one-to-one mapping between them.</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Sparsity is probably the most dramatic difference. In scRNA-seq, you detect maybe 10 to 45 percent of genes per cell. In </a:t>
            </a:r>
            <a:r>
              <a:rPr lang="en-US" sz="1200" b="0" kern="1200" dirty="0" err="1">
                <a:solidFill>
                  <a:schemeClr val="tx1"/>
                </a:solidFill>
                <a:effectLst/>
                <a:latin typeface="+mn-lt"/>
                <a:ea typeface="+mn-ea"/>
                <a:cs typeface="+mn-cs"/>
              </a:rPr>
              <a:t>scATAC</a:t>
            </a:r>
            <a:r>
              <a:rPr lang="en-US" sz="1200" b="0" kern="1200" dirty="0">
                <a:solidFill>
                  <a:schemeClr val="tx1"/>
                </a:solidFill>
                <a:effectLst/>
                <a:latin typeface="+mn-lt"/>
                <a:ea typeface="+mn-ea"/>
                <a:cs typeface="+mn-cs"/>
              </a:rPr>
              <a:t>-seq, it's 1 to 10 percent — because you're profiling diploid DNA, not thousands of RNA copies. And then the temporal windows are different too: metabolomics captures events on a timescale of seconds, while epigenetic marks persist for days or weeks. Even when you profile the "same" sample, each layer is effectively looking at a different moment in time.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So in addition to heterogeneity, we have to deal with pervasive missing data — and it happens at three distinct levels.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First, feature-level dropout. This is the one most people think of. In scRNA-seq, 55 to 90 percent of your count matrix is zeros. In </a:t>
            </a:r>
            <a:r>
              <a:rPr lang="en-US" sz="1200" b="0" kern="1200" dirty="0" err="1">
                <a:solidFill>
                  <a:schemeClr val="tx1"/>
                </a:solidFill>
                <a:effectLst/>
                <a:latin typeface="+mn-lt"/>
                <a:ea typeface="+mn-ea"/>
                <a:cs typeface="+mn-cs"/>
              </a:rPr>
              <a:t>scATAC</a:t>
            </a:r>
            <a:r>
              <a:rPr lang="en-US" sz="1200" b="0" kern="1200" dirty="0">
                <a:solidFill>
                  <a:schemeClr val="tx1"/>
                </a:solidFill>
                <a:effectLst/>
                <a:latin typeface="+mn-lt"/>
                <a:ea typeface="+mn-ea"/>
                <a:cs typeface="+mn-cs"/>
              </a:rPr>
              <a:t>-seq, it's even worse — 90 to 99 percent — because DNA is only present in two copies per cell. This isn't just inconvenient; it means gene-gene correlations become unreliable, and clustering algorithms can't find true cell neighborhoods.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Second, sample-level missingness across omics layers. This is extremely common in real studies. You might have RNA-seq on 500 patients but proteomics on only 200, with an overlap of maybe 120. Or you have technologies like 10x </a:t>
            </a:r>
            <a:r>
              <a:rPr lang="en-US" sz="1200" b="0" kern="1200" dirty="0" err="1">
                <a:solidFill>
                  <a:schemeClr val="tx1"/>
                </a:solidFill>
                <a:effectLst/>
                <a:latin typeface="+mn-lt"/>
                <a:ea typeface="+mn-ea"/>
                <a:cs typeface="+mn-cs"/>
              </a:rPr>
              <a:t>Multiome</a:t>
            </a:r>
            <a:r>
              <a:rPr lang="en-US" sz="1200" b="0" kern="1200" dirty="0">
                <a:solidFill>
                  <a:schemeClr val="tx1"/>
                </a:solidFill>
                <a:effectLst/>
                <a:latin typeface="+mn-lt"/>
                <a:ea typeface="+mn-ea"/>
                <a:cs typeface="+mn-cs"/>
              </a:rPr>
              <a:t> that give you matched RNA and ATAC per cell, but the majority of published datasets were profiled separately. When samples aren't matched, you need specialized diagonal integration methods, and you lose the ability to make per-cell cross-modal inferences.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Third — and this is the one people often overlook — entire modalities can be absent. Budget constraints mean a study might have whole-genome sequencing and RNA-seq but simply cannot afford </a:t>
            </a:r>
            <a:r>
              <a:rPr lang="en-US" sz="1200" b="0" kern="1200" dirty="0" err="1">
                <a:solidFill>
                  <a:schemeClr val="tx1"/>
                </a:solidFill>
                <a:effectLst/>
                <a:latin typeface="+mn-lt"/>
                <a:ea typeface="+mn-ea"/>
                <a:cs typeface="+mn-cs"/>
              </a:rPr>
              <a:t>phosphoproteomics</a:t>
            </a:r>
            <a:r>
              <a:rPr lang="en-US" sz="1200" b="0" kern="1200" dirty="0">
                <a:solidFill>
                  <a:schemeClr val="tx1"/>
                </a:solidFill>
                <a:effectLst/>
                <a:latin typeface="+mn-lt"/>
                <a:ea typeface="+mn-ea"/>
                <a:cs typeface="+mn-cs"/>
              </a:rPr>
              <a:t> or spatial transcriptomics. Tissue limitations matter too: FFPE samples support DNA and methylation analysis, but yield degraded RNA and poor chromatin accessibility. When an entire regulatory layer is missing, your causal chain from mutation to phenotype has a gap you can't fill.</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So how does the field deal with all of this? The solutions split naturally into two categories: handling heterogeneity on the left, and handling missing data on the right.</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For heterogeneity, three main strategies have emerged. First, modality-specific encoders — tools like </a:t>
            </a:r>
            <a:r>
              <a:rPr lang="en-US" sz="1200" b="0" kern="1200" dirty="0" err="1">
                <a:solidFill>
                  <a:schemeClr val="tx1"/>
                </a:solidFill>
                <a:effectLst/>
                <a:latin typeface="+mn-lt"/>
                <a:ea typeface="+mn-ea"/>
                <a:cs typeface="+mn-cs"/>
              </a:rPr>
              <a:t>scGLUE</a:t>
            </a:r>
            <a:r>
              <a:rPr lang="en-US" sz="1200" b="0" kern="1200" dirty="0">
                <a:solidFill>
                  <a:schemeClr val="tx1"/>
                </a:solidFill>
                <a:effectLst/>
                <a:latin typeface="+mn-lt"/>
                <a:ea typeface="+mn-ea"/>
                <a:cs typeface="+mn-cs"/>
              </a:rPr>
              <a:t> and </a:t>
            </a:r>
            <a:r>
              <a:rPr lang="en-US" sz="1200" b="0" kern="1200" dirty="0" err="1">
                <a:solidFill>
                  <a:schemeClr val="tx1"/>
                </a:solidFill>
                <a:effectLst/>
                <a:latin typeface="+mn-lt"/>
                <a:ea typeface="+mn-ea"/>
                <a:cs typeface="+mn-cs"/>
              </a:rPr>
              <a:t>MultiVI</a:t>
            </a:r>
            <a:r>
              <a:rPr lang="en-US" sz="1200" b="0" kern="1200" dirty="0">
                <a:solidFill>
                  <a:schemeClr val="tx1"/>
                </a:solidFill>
                <a:effectLst/>
                <a:latin typeface="+mn-lt"/>
                <a:ea typeface="+mn-ea"/>
                <a:cs typeface="+mn-cs"/>
              </a:rPr>
              <a:t> process each omics through its own encoder that respects the data's native distribution before projecting everything into a shared latent space. Second, adversarial alignment, where discriminator networks force embeddings from different modalities into a domain-invariant space, explicitly correcting for batch and platform effects. And third, knowledge-guided graphs — SCENIC+, LINGER, and </a:t>
            </a:r>
            <a:r>
              <a:rPr lang="en-US" sz="1200" b="0" kern="1200" dirty="0" err="1">
                <a:solidFill>
                  <a:schemeClr val="tx1"/>
                </a:solidFill>
                <a:effectLst/>
                <a:latin typeface="+mn-lt"/>
                <a:ea typeface="+mn-ea"/>
                <a:cs typeface="+mn-cs"/>
              </a:rPr>
              <a:t>MultiGATE</a:t>
            </a:r>
            <a:r>
              <a:rPr lang="en-US" sz="1200" b="0" kern="1200" dirty="0">
                <a:solidFill>
                  <a:schemeClr val="tx1"/>
                </a:solidFill>
                <a:effectLst/>
                <a:latin typeface="+mn-lt"/>
                <a:ea typeface="+mn-ea"/>
                <a:cs typeface="+mn-cs"/>
              </a:rPr>
              <a:t> encode known regulatory relationships as graph edges to bridge those heterogeneous feature spaces using biological priors rather than purely statistical alignment.</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For missing data, we also have three tiers. Feature-level dropout is addressed with imputation tools like MAGIC and </a:t>
            </a:r>
            <a:r>
              <a:rPr lang="en-US" sz="1200" b="0" kern="1200" dirty="0" err="1">
                <a:solidFill>
                  <a:schemeClr val="tx1"/>
                </a:solidFill>
                <a:effectLst/>
                <a:latin typeface="+mn-lt"/>
                <a:ea typeface="+mn-ea"/>
                <a:cs typeface="+mn-cs"/>
              </a:rPr>
              <a:t>scOpen</a:t>
            </a:r>
            <a:r>
              <a:rPr lang="en-US" sz="1200" b="0" kern="1200" dirty="0">
                <a:solidFill>
                  <a:schemeClr val="tx1"/>
                </a:solidFill>
                <a:effectLst/>
                <a:latin typeface="+mn-lt"/>
                <a:ea typeface="+mn-ea"/>
                <a:cs typeface="+mn-cs"/>
              </a:rPr>
              <a:t>, which use neighbor smoothing or model-based inference tailored to each data type's noise model. Sample-level missingness is handled by diagonal or mosaic integration methods — Seurat v5's bridge integration, UINMF, and </a:t>
            </a:r>
            <a:r>
              <a:rPr lang="en-US" sz="1200" b="0" kern="1200" dirty="0" err="1">
                <a:solidFill>
                  <a:schemeClr val="tx1"/>
                </a:solidFill>
                <a:effectLst/>
                <a:latin typeface="+mn-lt"/>
                <a:ea typeface="+mn-ea"/>
                <a:cs typeface="+mn-cs"/>
              </a:rPr>
              <a:t>StabMap</a:t>
            </a:r>
            <a:r>
              <a:rPr lang="en-US" sz="1200" b="0" kern="1200" dirty="0">
                <a:solidFill>
                  <a:schemeClr val="tx1"/>
                </a:solidFill>
                <a:effectLst/>
                <a:latin typeface="+mn-lt"/>
                <a:ea typeface="+mn-ea"/>
                <a:cs typeface="+mn-cs"/>
              </a:rPr>
              <a:t> can align unpaired samples across modalities using shared features or optimal transport. And for whole-modality absence, probabilistic frameworks like MOFA2 can infer latent factors even when entire omics layers are missing for subsets of samples.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important takeaway is that the best modern frameworks often combine multiple strategies — MOFA2 handles missing modalities while </a:t>
            </a:r>
            <a:r>
              <a:rPr lang="en-US" sz="1200" b="0" kern="1200" dirty="0" err="1">
                <a:solidFill>
                  <a:schemeClr val="tx1"/>
                </a:solidFill>
                <a:effectLst/>
                <a:latin typeface="+mn-lt"/>
                <a:ea typeface="+mn-ea"/>
                <a:cs typeface="+mn-cs"/>
              </a:rPr>
              <a:t>scGLUE</a:t>
            </a:r>
            <a:r>
              <a:rPr lang="en-US" sz="1200" b="0" kern="1200" dirty="0">
                <a:solidFill>
                  <a:schemeClr val="tx1"/>
                </a:solidFill>
                <a:effectLst/>
                <a:latin typeface="+mn-lt"/>
                <a:ea typeface="+mn-ea"/>
                <a:cs typeface="+mn-cs"/>
              </a:rPr>
              <a:t> handles heterogeneous features, and you can chain them in a single analysis workflow.</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98570-77A4-613E-8531-4CB0E8FF36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EA264C8-2517-8118-EC4E-E38CA8A3D4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B3F30B4-CA20-F60C-A6F9-6E4F32F243E4}"/>
              </a:ext>
            </a:extLst>
          </p:cNvPr>
          <p:cNvSpPr>
            <a:spLocks noGrp="1"/>
          </p:cNvSpPr>
          <p:nvPr>
            <p:ph type="dt" sz="half" idx="10"/>
          </p:nvPr>
        </p:nvSpPr>
        <p:spPr/>
        <p:txBody>
          <a:bodyPr/>
          <a:lstStyle/>
          <a:p>
            <a:fld id="{97C10933-0D4F-450C-94DB-EBDDC48DFADF}" type="datetimeFigureOut">
              <a:rPr lang="en-US" smtClean="0"/>
              <a:t>2/3/2026</a:t>
            </a:fld>
            <a:endParaRPr lang="en-US"/>
          </a:p>
        </p:txBody>
      </p:sp>
      <p:sp>
        <p:nvSpPr>
          <p:cNvPr id="5" name="Footer Placeholder 4">
            <a:extLst>
              <a:ext uri="{FF2B5EF4-FFF2-40B4-BE49-F238E27FC236}">
                <a16:creationId xmlns:a16="http://schemas.microsoft.com/office/drawing/2014/main" id="{5134B18B-56D9-F295-83E6-BC099E4329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8A8657-3F70-1E00-5684-19C6322ABD36}"/>
              </a:ext>
            </a:extLst>
          </p:cNvPr>
          <p:cNvSpPr>
            <a:spLocks noGrp="1"/>
          </p:cNvSpPr>
          <p:nvPr>
            <p:ph type="sldNum" sz="quarter" idx="12"/>
          </p:nvPr>
        </p:nvSpPr>
        <p:spPr/>
        <p:txBody>
          <a:bodyPr/>
          <a:lstStyle/>
          <a:p>
            <a:fld id="{93CB14EC-B927-4479-8748-E1CBD76216FF}" type="slidenum">
              <a:rPr lang="en-US" smtClean="0"/>
              <a:t>‹#›</a:t>
            </a:fld>
            <a:endParaRPr lang="en-US"/>
          </a:p>
        </p:txBody>
      </p:sp>
    </p:spTree>
    <p:extLst>
      <p:ext uri="{BB962C8B-B14F-4D97-AF65-F5344CB8AC3E}">
        <p14:creationId xmlns:p14="http://schemas.microsoft.com/office/powerpoint/2010/main" val="3900309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3E323-F3A2-2526-A01D-B33368E522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5B5168-F82A-1A48-5143-E8BB725CB17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08F5AB-2511-9126-3070-EFAF0834178E}"/>
              </a:ext>
            </a:extLst>
          </p:cNvPr>
          <p:cNvSpPr>
            <a:spLocks noGrp="1"/>
          </p:cNvSpPr>
          <p:nvPr>
            <p:ph type="dt" sz="half" idx="10"/>
          </p:nvPr>
        </p:nvSpPr>
        <p:spPr/>
        <p:txBody>
          <a:bodyPr/>
          <a:lstStyle/>
          <a:p>
            <a:fld id="{97C10933-0D4F-450C-94DB-EBDDC48DFADF}" type="datetimeFigureOut">
              <a:rPr lang="en-US" smtClean="0"/>
              <a:t>2/3/2026</a:t>
            </a:fld>
            <a:endParaRPr lang="en-US"/>
          </a:p>
        </p:txBody>
      </p:sp>
      <p:sp>
        <p:nvSpPr>
          <p:cNvPr id="5" name="Footer Placeholder 4">
            <a:extLst>
              <a:ext uri="{FF2B5EF4-FFF2-40B4-BE49-F238E27FC236}">
                <a16:creationId xmlns:a16="http://schemas.microsoft.com/office/drawing/2014/main" id="{AD061721-7E3A-B22D-B4A1-2D7C4F6292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8C3247-3C46-D5B9-08E5-52BF089F7FFE}"/>
              </a:ext>
            </a:extLst>
          </p:cNvPr>
          <p:cNvSpPr>
            <a:spLocks noGrp="1"/>
          </p:cNvSpPr>
          <p:nvPr>
            <p:ph type="sldNum" sz="quarter" idx="12"/>
          </p:nvPr>
        </p:nvSpPr>
        <p:spPr/>
        <p:txBody>
          <a:bodyPr/>
          <a:lstStyle/>
          <a:p>
            <a:fld id="{93CB14EC-B927-4479-8748-E1CBD76216FF}" type="slidenum">
              <a:rPr lang="en-US" smtClean="0"/>
              <a:t>‹#›</a:t>
            </a:fld>
            <a:endParaRPr lang="en-US"/>
          </a:p>
        </p:txBody>
      </p:sp>
    </p:spTree>
    <p:extLst>
      <p:ext uri="{BB962C8B-B14F-4D97-AF65-F5344CB8AC3E}">
        <p14:creationId xmlns:p14="http://schemas.microsoft.com/office/powerpoint/2010/main" val="36818311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DF02C-F953-4539-CE25-12B331BA69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C9CFE5B-9718-FFFB-1CE5-905A068A0D0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900C163-3C7C-BAC4-3DB5-C340B318AE60}"/>
              </a:ext>
            </a:extLst>
          </p:cNvPr>
          <p:cNvSpPr>
            <a:spLocks noGrp="1"/>
          </p:cNvSpPr>
          <p:nvPr>
            <p:ph type="dt" sz="half" idx="10"/>
          </p:nvPr>
        </p:nvSpPr>
        <p:spPr/>
        <p:txBody>
          <a:bodyPr/>
          <a:lstStyle/>
          <a:p>
            <a:fld id="{97C10933-0D4F-450C-94DB-EBDDC48DFADF}" type="datetimeFigureOut">
              <a:rPr lang="en-US" smtClean="0"/>
              <a:t>2/3/2026</a:t>
            </a:fld>
            <a:endParaRPr lang="en-US"/>
          </a:p>
        </p:txBody>
      </p:sp>
      <p:sp>
        <p:nvSpPr>
          <p:cNvPr id="5" name="Footer Placeholder 4">
            <a:extLst>
              <a:ext uri="{FF2B5EF4-FFF2-40B4-BE49-F238E27FC236}">
                <a16:creationId xmlns:a16="http://schemas.microsoft.com/office/drawing/2014/main" id="{7286ABF9-F908-981B-0D76-E7395A0C9E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12CA07-DD3B-B3B2-6CF4-047D69C737E6}"/>
              </a:ext>
            </a:extLst>
          </p:cNvPr>
          <p:cNvSpPr>
            <a:spLocks noGrp="1"/>
          </p:cNvSpPr>
          <p:nvPr>
            <p:ph type="sldNum" sz="quarter" idx="12"/>
          </p:nvPr>
        </p:nvSpPr>
        <p:spPr/>
        <p:txBody>
          <a:bodyPr/>
          <a:lstStyle/>
          <a:p>
            <a:fld id="{93CB14EC-B927-4479-8748-E1CBD76216FF}" type="slidenum">
              <a:rPr lang="en-US" smtClean="0"/>
              <a:t>‹#›</a:t>
            </a:fld>
            <a:endParaRPr lang="en-US"/>
          </a:p>
        </p:txBody>
      </p:sp>
    </p:spTree>
    <p:extLst>
      <p:ext uri="{BB962C8B-B14F-4D97-AF65-F5344CB8AC3E}">
        <p14:creationId xmlns:p14="http://schemas.microsoft.com/office/powerpoint/2010/main" val="175003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91538-EAEB-C26D-DF41-C20CAD7301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DBEDDB-DA62-A2C9-972F-782B183069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97993F-2E76-E204-4C10-9ABBBFDE8D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A9F0F29-87EC-D8D9-650C-9B4986F5E866}"/>
              </a:ext>
            </a:extLst>
          </p:cNvPr>
          <p:cNvSpPr>
            <a:spLocks noGrp="1"/>
          </p:cNvSpPr>
          <p:nvPr>
            <p:ph type="dt" sz="half" idx="10"/>
          </p:nvPr>
        </p:nvSpPr>
        <p:spPr/>
        <p:txBody>
          <a:bodyPr/>
          <a:lstStyle/>
          <a:p>
            <a:fld id="{97C10933-0D4F-450C-94DB-EBDDC48DFADF}" type="datetimeFigureOut">
              <a:rPr lang="en-US" smtClean="0"/>
              <a:t>2/3/2026</a:t>
            </a:fld>
            <a:endParaRPr lang="en-US"/>
          </a:p>
        </p:txBody>
      </p:sp>
      <p:sp>
        <p:nvSpPr>
          <p:cNvPr id="6" name="Footer Placeholder 5">
            <a:extLst>
              <a:ext uri="{FF2B5EF4-FFF2-40B4-BE49-F238E27FC236}">
                <a16:creationId xmlns:a16="http://schemas.microsoft.com/office/drawing/2014/main" id="{E812FE42-C35D-BBA7-BE46-B208B2609B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BA4CA1-AB3B-A463-BB0D-11BF44FE7C85}"/>
              </a:ext>
            </a:extLst>
          </p:cNvPr>
          <p:cNvSpPr>
            <a:spLocks noGrp="1"/>
          </p:cNvSpPr>
          <p:nvPr>
            <p:ph type="sldNum" sz="quarter" idx="12"/>
          </p:nvPr>
        </p:nvSpPr>
        <p:spPr/>
        <p:txBody>
          <a:bodyPr/>
          <a:lstStyle/>
          <a:p>
            <a:fld id="{93CB14EC-B927-4479-8748-E1CBD76216FF}" type="slidenum">
              <a:rPr lang="en-US" smtClean="0"/>
              <a:t>‹#›</a:t>
            </a:fld>
            <a:endParaRPr lang="en-US"/>
          </a:p>
        </p:txBody>
      </p:sp>
    </p:spTree>
    <p:extLst>
      <p:ext uri="{BB962C8B-B14F-4D97-AF65-F5344CB8AC3E}">
        <p14:creationId xmlns:p14="http://schemas.microsoft.com/office/powerpoint/2010/main" val="3597669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C4EA9-294A-51A5-58BF-31C44FD6BD7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F0F50E9-CAA3-1DA0-0843-1D5EF1ECF3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846BFB-EE3E-4039-2AF9-1384AFDC02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F9C90A4-CBE9-735C-76EA-84E18F2EEA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5A2070-4DA1-BE12-4374-90DF02FFF1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28D4122-BC1B-30BC-AB37-FA4580233BB5}"/>
              </a:ext>
            </a:extLst>
          </p:cNvPr>
          <p:cNvSpPr>
            <a:spLocks noGrp="1"/>
          </p:cNvSpPr>
          <p:nvPr>
            <p:ph type="dt" sz="half" idx="10"/>
          </p:nvPr>
        </p:nvSpPr>
        <p:spPr/>
        <p:txBody>
          <a:bodyPr/>
          <a:lstStyle/>
          <a:p>
            <a:fld id="{97C10933-0D4F-450C-94DB-EBDDC48DFADF}" type="datetimeFigureOut">
              <a:rPr lang="en-US" smtClean="0"/>
              <a:t>2/3/2026</a:t>
            </a:fld>
            <a:endParaRPr lang="en-US"/>
          </a:p>
        </p:txBody>
      </p:sp>
      <p:sp>
        <p:nvSpPr>
          <p:cNvPr id="8" name="Footer Placeholder 7">
            <a:extLst>
              <a:ext uri="{FF2B5EF4-FFF2-40B4-BE49-F238E27FC236}">
                <a16:creationId xmlns:a16="http://schemas.microsoft.com/office/drawing/2014/main" id="{69E0699D-5672-88F2-D366-27B634A0DB6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BC02875-0EFE-8054-7BAF-AAC53D641410}"/>
              </a:ext>
            </a:extLst>
          </p:cNvPr>
          <p:cNvSpPr>
            <a:spLocks noGrp="1"/>
          </p:cNvSpPr>
          <p:nvPr>
            <p:ph type="sldNum" sz="quarter" idx="12"/>
          </p:nvPr>
        </p:nvSpPr>
        <p:spPr/>
        <p:txBody>
          <a:bodyPr/>
          <a:lstStyle/>
          <a:p>
            <a:fld id="{93CB14EC-B927-4479-8748-E1CBD76216FF}" type="slidenum">
              <a:rPr lang="en-US" smtClean="0"/>
              <a:t>‹#›</a:t>
            </a:fld>
            <a:endParaRPr lang="en-US"/>
          </a:p>
        </p:txBody>
      </p:sp>
    </p:spTree>
    <p:extLst>
      <p:ext uri="{BB962C8B-B14F-4D97-AF65-F5344CB8AC3E}">
        <p14:creationId xmlns:p14="http://schemas.microsoft.com/office/powerpoint/2010/main" val="40782997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77F90-2EAD-D34F-5710-43371151783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85EF354-EECD-5A74-058E-1C53E42F890F}"/>
              </a:ext>
            </a:extLst>
          </p:cNvPr>
          <p:cNvSpPr>
            <a:spLocks noGrp="1"/>
          </p:cNvSpPr>
          <p:nvPr>
            <p:ph type="dt" sz="half" idx="10"/>
          </p:nvPr>
        </p:nvSpPr>
        <p:spPr/>
        <p:txBody>
          <a:bodyPr/>
          <a:lstStyle/>
          <a:p>
            <a:fld id="{97C10933-0D4F-450C-94DB-EBDDC48DFADF}" type="datetimeFigureOut">
              <a:rPr lang="en-US" smtClean="0"/>
              <a:t>2/3/2026</a:t>
            </a:fld>
            <a:endParaRPr lang="en-US"/>
          </a:p>
        </p:txBody>
      </p:sp>
      <p:sp>
        <p:nvSpPr>
          <p:cNvPr id="4" name="Footer Placeholder 3">
            <a:extLst>
              <a:ext uri="{FF2B5EF4-FFF2-40B4-BE49-F238E27FC236}">
                <a16:creationId xmlns:a16="http://schemas.microsoft.com/office/drawing/2014/main" id="{341AB3C8-4DFF-80E8-C8E0-CBAADEA73D3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8D67408-6BAC-6ECE-DC13-64DD921A8D5C}"/>
              </a:ext>
            </a:extLst>
          </p:cNvPr>
          <p:cNvSpPr>
            <a:spLocks noGrp="1"/>
          </p:cNvSpPr>
          <p:nvPr>
            <p:ph type="sldNum" sz="quarter" idx="12"/>
          </p:nvPr>
        </p:nvSpPr>
        <p:spPr/>
        <p:txBody>
          <a:bodyPr/>
          <a:lstStyle/>
          <a:p>
            <a:fld id="{93CB14EC-B927-4479-8748-E1CBD76216FF}" type="slidenum">
              <a:rPr lang="en-US" smtClean="0"/>
              <a:t>‹#›</a:t>
            </a:fld>
            <a:endParaRPr lang="en-US"/>
          </a:p>
        </p:txBody>
      </p:sp>
    </p:spTree>
    <p:extLst>
      <p:ext uri="{BB962C8B-B14F-4D97-AF65-F5344CB8AC3E}">
        <p14:creationId xmlns:p14="http://schemas.microsoft.com/office/powerpoint/2010/main" val="3034327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D9E9BB-248A-AC73-B751-B25D1DDA5697}"/>
              </a:ext>
            </a:extLst>
          </p:cNvPr>
          <p:cNvSpPr>
            <a:spLocks noGrp="1"/>
          </p:cNvSpPr>
          <p:nvPr>
            <p:ph type="dt" sz="half" idx="10"/>
          </p:nvPr>
        </p:nvSpPr>
        <p:spPr/>
        <p:txBody>
          <a:bodyPr/>
          <a:lstStyle/>
          <a:p>
            <a:fld id="{97C10933-0D4F-450C-94DB-EBDDC48DFADF}" type="datetimeFigureOut">
              <a:rPr lang="en-US" smtClean="0"/>
              <a:t>2/3/2026</a:t>
            </a:fld>
            <a:endParaRPr lang="en-US"/>
          </a:p>
        </p:txBody>
      </p:sp>
      <p:sp>
        <p:nvSpPr>
          <p:cNvPr id="3" name="Footer Placeholder 2">
            <a:extLst>
              <a:ext uri="{FF2B5EF4-FFF2-40B4-BE49-F238E27FC236}">
                <a16:creationId xmlns:a16="http://schemas.microsoft.com/office/drawing/2014/main" id="{FAB23AD8-07AC-C660-6D11-A9EE88E20F0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EB28204-C2D5-A9D3-D763-DD7508E38565}"/>
              </a:ext>
            </a:extLst>
          </p:cNvPr>
          <p:cNvSpPr>
            <a:spLocks noGrp="1"/>
          </p:cNvSpPr>
          <p:nvPr>
            <p:ph type="sldNum" sz="quarter" idx="12"/>
          </p:nvPr>
        </p:nvSpPr>
        <p:spPr/>
        <p:txBody>
          <a:bodyPr/>
          <a:lstStyle/>
          <a:p>
            <a:fld id="{93CB14EC-B927-4479-8748-E1CBD76216FF}" type="slidenum">
              <a:rPr lang="en-US" smtClean="0"/>
              <a:t>‹#›</a:t>
            </a:fld>
            <a:endParaRPr lang="en-US"/>
          </a:p>
        </p:txBody>
      </p:sp>
    </p:spTree>
    <p:extLst>
      <p:ext uri="{BB962C8B-B14F-4D97-AF65-F5344CB8AC3E}">
        <p14:creationId xmlns:p14="http://schemas.microsoft.com/office/powerpoint/2010/main" val="1886884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49C88-FEB1-44F2-3DCF-6F46C1B94A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4F5A0D3-A2D6-32D5-E48D-7686596026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2967724-01E6-108D-76BF-1E226183AE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0A3503-097B-D50B-51F8-78BB1C255F05}"/>
              </a:ext>
            </a:extLst>
          </p:cNvPr>
          <p:cNvSpPr>
            <a:spLocks noGrp="1"/>
          </p:cNvSpPr>
          <p:nvPr>
            <p:ph type="dt" sz="half" idx="10"/>
          </p:nvPr>
        </p:nvSpPr>
        <p:spPr/>
        <p:txBody>
          <a:bodyPr/>
          <a:lstStyle/>
          <a:p>
            <a:fld id="{97C10933-0D4F-450C-94DB-EBDDC48DFADF}" type="datetimeFigureOut">
              <a:rPr lang="en-US" smtClean="0"/>
              <a:t>2/3/2026</a:t>
            </a:fld>
            <a:endParaRPr lang="en-US"/>
          </a:p>
        </p:txBody>
      </p:sp>
      <p:sp>
        <p:nvSpPr>
          <p:cNvPr id="6" name="Footer Placeholder 5">
            <a:extLst>
              <a:ext uri="{FF2B5EF4-FFF2-40B4-BE49-F238E27FC236}">
                <a16:creationId xmlns:a16="http://schemas.microsoft.com/office/drawing/2014/main" id="{D5BFB608-5179-A357-EEF5-AA9B0B85B6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14A040-DA45-4964-FD72-4116CDED27B1}"/>
              </a:ext>
            </a:extLst>
          </p:cNvPr>
          <p:cNvSpPr>
            <a:spLocks noGrp="1"/>
          </p:cNvSpPr>
          <p:nvPr>
            <p:ph type="sldNum" sz="quarter" idx="12"/>
          </p:nvPr>
        </p:nvSpPr>
        <p:spPr/>
        <p:txBody>
          <a:bodyPr/>
          <a:lstStyle/>
          <a:p>
            <a:fld id="{93CB14EC-B927-4479-8748-E1CBD76216FF}" type="slidenum">
              <a:rPr lang="en-US" smtClean="0"/>
              <a:t>‹#›</a:t>
            </a:fld>
            <a:endParaRPr lang="en-US"/>
          </a:p>
        </p:txBody>
      </p:sp>
    </p:spTree>
    <p:extLst>
      <p:ext uri="{BB962C8B-B14F-4D97-AF65-F5344CB8AC3E}">
        <p14:creationId xmlns:p14="http://schemas.microsoft.com/office/powerpoint/2010/main" val="1932397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0EC27-B05C-F1FA-6B7F-B1DEAF0D1E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47BDBA9-259D-58E5-8DF2-DCDA2A23A8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EC24E4D-A985-D321-91A6-B68F2C1713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ECCF9A-F771-CCC5-3DEE-853DC23F941E}"/>
              </a:ext>
            </a:extLst>
          </p:cNvPr>
          <p:cNvSpPr>
            <a:spLocks noGrp="1"/>
          </p:cNvSpPr>
          <p:nvPr>
            <p:ph type="dt" sz="half" idx="10"/>
          </p:nvPr>
        </p:nvSpPr>
        <p:spPr/>
        <p:txBody>
          <a:bodyPr/>
          <a:lstStyle/>
          <a:p>
            <a:fld id="{97C10933-0D4F-450C-94DB-EBDDC48DFADF}" type="datetimeFigureOut">
              <a:rPr lang="en-US" smtClean="0"/>
              <a:t>2/3/2026</a:t>
            </a:fld>
            <a:endParaRPr lang="en-US"/>
          </a:p>
        </p:txBody>
      </p:sp>
      <p:sp>
        <p:nvSpPr>
          <p:cNvPr id="6" name="Footer Placeholder 5">
            <a:extLst>
              <a:ext uri="{FF2B5EF4-FFF2-40B4-BE49-F238E27FC236}">
                <a16:creationId xmlns:a16="http://schemas.microsoft.com/office/drawing/2014/main" id="{F071B3D3-BD81-C2C5-8060-DBDA12832A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0A37D9-5CA4-3F23-16FA-E6ED51C56A65}"/>
              </a:ext>
            </a:extLst>
          </p:cNvPr>
          <p:cNvSpPr>
            <a:spLocks noGrp="1"/>
          </p:cNvSpPr>
          <p:nvPr>
            <p:ph type="sldNum" sz="quarter" idx="12"/>
          </p:nvPr>
        </p:nvSpPr>
        <p:spPr/>
        <p:txBody>
          <a:bodyPr/>
          <a:lstStyle/>
          <a:p>
            <a:fld id="{93CB14EC-B927-4479-8748-E1CBD76216FF}" type="slidenum">
              <a:rPr lang="en-US" smtClean="0"/>
              <a:t>‹#›</a:t>
            </a:fld>
            <a:endParaRPr lang="en-US"/>
          </a:p>
        </p:txBody>
      </p:sp>
    </p:spTree>
    <p:extLst>
      <p:ext uri="{BB962C8B-B14F-4D97-AF65-F5344CB8AC3E}">
        <p14:creationId xmlns:p14="http://schemas.microsoft.com/office/powerpoint/2010/main" val="3564809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6A129-5604-F3ED-485F-319CFC738A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5778425-031A-E714-DE84-5349346829E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0136F1-8953-3C89-98AE-8091624D7050}"/>
              </a:ext>
            </a:extLst>
          </p:cNvPr>
          <p:cNvSpPr>
            <a:spLocks noGrp="1"/>
          </p:cNvSpPr>
          <p:nvPr>
            <p:ph type="dt" sz="half" idx="10"/>
          </p:nvPr>
        </p:nvSpPr>
        <p:spPr/>
        <p:txBody>
          <a:bodyPr/>
          <a:lstStyle/>
          <a:p>
            <a:fld id="{97C10933-0D4F-450C-94DB-EBDDC48DFADF}" type="datetimeFigureOut">
              <a:rPr lang="en-US" smtClean="0"/>
              <a:t>2/3/2026</a:t>
            </a:fld>
            <a:endParaRPr lang="en-US"/>
          </a:p>
        </p:txBody>
      </p:sp>
      <p:sp>
        <p:nvSpPr>
          <p:cNvPr id="5" name="Footer Placeholder 4">
            <a:extLst>
              <a:ext uri="{FF2B5EF4-FFF2-40B4-BE49-F238E27FC236}">
                <a16:creationId xmlns:a16="http://schemas.microsoft.com/office/drawing/2014/main" id="{7517E915-29A3-3D3F-6047-A5FB19C009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875EC0-A14A-9021-4764-28C7B008A3AC}"/>
              </a:ext>
            </a:extLst>
          </p:cNvPr>
          <p:cNvSpPr>
            <a:spLocks noGrp="1"/>
          </p:cNvSpPr>
          <p:nvPr>
            <p:ph type="sldNum" sz="quarter" idx="12"/>
          </p:nvPr>
        </p:nvSpPr>
        <p:spPr/>
        <p:txBody>
          <a:bodyPr/>
          <a:lstStyle/>
          <a:p>
            <a:fld id="{93CB14EC-B927-4479-8748-E1CBD76216FF}" type="slidenum">
              <a:rPr lang="en-US" smtClean="0"/>
              <a:t>‹#›</a:t>
            </a:fld>
            <a:endParaRPr lang="en-US"/>
          </a:p>
        </p:txBody>
      </p:sp>
    </p:spTree>
    <p:extLst>
      <p:ext uri="{BB962C8B-B14F-4D97-AF65-F5344CB8AC3E}">
        <p14:creationId xmlns:p14="http://schemas.microsoft.com/office/powerpoint/2010/main" val="22591969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019419-0911-D4BA-B950-1129C3827EF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8418BD6-30C6-DAB4-FB76-D73131B099C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C18764-3E5A-2D4D-9CAC-F5082D8C5FA3}"/>
              </a:ext>
            </a:extLst>
          </p:cNvPr>
          <p:cNvSpPr>
            <a:spLocks noGrp="1"/>
          </p:cNvSpPr>
          <p:nvPr>
            <p:ph type="dt" sz="half" idx="10"/>
          </p:nvPr>
        </p:nvSpPr>
        <p:spPr/>
        <p:txBody>
          <a:bodyPr/>
          <a:lstStyle/>
          <a:p>
            <a:fld id="{97C10933-0D4F-450C-94DB-EBDDC48DFADF}" type="datetimeFigureOut">
              <a:rPr lang="en-US" smtClean="0"/>
              <a:t>2/3/2026</a:t>
            </a:fld>
            <a:endParaRPr lang="en-US"/>
          </a:p>
        </p:txBody>
      </p:sp>
      <p:sp>
        <p:nvSpPr>
          <p:cNvPr id="5" name="Footer Placeholder 4">
            <a:extLst>
              <a:ext uri="{FF2B5EF4-FFF2-40B4-BE49-F238E27FC236}">
                <a16:creationId xmlns:a16="http://schemas.microsoft.com/office/drawing/2014/main" id="{D125C269-279D-E4D3-BE8E-394D0343B5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D6AB8D-E491-8DA8-23AF-942D9D2AE724}"/>
              </a:ext>
            </a:extLst>
          </p:cNvPr>
          <p:cNvSpPr>
            <a:spLocks noGrp="1"/>
          </p:cNvSpPr>
          <p:nvPr>
            <p:ph type="sldNum" sz="quarter" idx="12"/>
          </p:nvPr>
        </p:nvSpPr>
        <p:spPr/>
        <p:txBody>
          <a:bodyPr/>
          <a:lstStyle/>
          <a:p>
            <a:fld id="{93CB14EC-B927-4479-8748-E1CBD76216FF}" type="slidenum">
              <a:rPr lang="en-US" smtClean="0"/>
              <a:t>‹#›</a:t>
            </a:fld>
            <a:endParaRPr lang="en-US"/>
          </a:p>
        </p:txBody>
      </p:sp>
    </p:spTree>
    <p:extLst>
      <p:ext uri="{BB962C8B-B14F-4D97-AF65-F5344CB8AC3E}">
        <p14:creationId xmlns:p14="http://schemas.microsoft.com/office/powerpoint/2010/main" val="5004893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9285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17F05D-23D3-3EE5-D731-38CFEA53DC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7C32514-CCC5-BC16-CE0F-D98BE058AC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1917A9-32CD-985C-B9CC-7DE6ECA467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7C10933-0D4F-450C-94DB-EBDDC48DFADF}" type="datetimeFigureOut">
              <a:rPr lang="en-US" smtClean="0"/>
              <a:t>2/3/2026</a:t>
            </a:fld>
            <a:endParaRPr lang="en-US"/>
          </a:p>
        </p:txBody>
      </p:sp>
      <p:sp>
        <p:nvSpPr>
          <p:cNvPr id="5" name="Footer Placeholder 4">
            <a:extLst>
              <a:ext uri="{FF2B5EF4-FFF2-40B4-BE49-F238E27FC236}">
                <a16:creationId xmlns:a16="http://schemas.microsoft.com/office/drawing/2014/main" id="{7FAA6467-33E9-8E4C-787C-DFC2DE3433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538EE0F-80C7-BDA7-A811-6EC770DC6F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3CB14EC-B927-4479-8748-E1CBD76216FF}" type="slidenum">
              <a:rPr lang="en-US" smtClean="0"/>
              <a:t>‹#›</a:t>
            </a:fld>
            <a:endParaRPr lang="en-US"/>
          </a:p>
        </p:txBody>
      </p:sp>
    </p:spTree>
    <p:extLst>
      <p:ext uri="{BB962C8B-B14F-4D97-AF65-F5344CB8AC3E}">
        <p14:creationId xmlns:p14="http://schemas.microsoft.com/office/powerpoint/2010/main" val="25170943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0606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889760"/>
          </a:xfrm>
          <a:prstGeom prst="rect">
            <a:avLst/>
          </a:prstGeom>
          <a:solidFill>
            <a:srgbClr val="0B2027"/>
          </a:solidFill>
          <a:ln/>
        </p:spPr>
        <p:txBody>
          <a:bodyPr/>
          <a:lstStyle/>
          <a:p>
            <a:endParaRPr lang="en-US" sz="2400"/>
          </a:p>
        </p:txBody>
      </p:sp>
      <p:pic>
        <p:nvPicPr>
          <p:cNvPr id="3" name="Image 0" descr="preencoded.png"/>
          <p:cNvPicPr>
            <a:picLocks noChangeAspect="1"/>
          </p:cNvPicPr>
          <p:nvPr/>
        </p:nvPicPr>
        <p:blipFill>
          <a:blip r:embed="rId3"/>
          <a:stretch>
            <a:fillRect/>
          </a:stretch>
        </p:blipFill>
        <p:spPr>
          <a:xfrm>
            <a:off x="731520" y="426720"/>
            <a:ext cx="609600" cy="609600"/>
          </a:xfrm>
          <a:prstGeom prst="rect">
            <a:avLst/>
          </a:prstGeom>
        </p:spPr>
      </p:pic>
      <p:sp>
        <p:nvSpPr>
          <p:cNvPr id="4" name="Text 1"/>
          <p:cNvSpPr/>
          <p:nvPr/>
        </p:nvSpPr>
        <p:spPr>
          <a:xfrm>
            <a:off x="1524000" y="243840"/>
            <a:ext cx="9997440" cy="853440"/>
          </a:xfrm>
          <a:prstGeom prst="rect">
            <a:avLst/>
          </a:prstGeom>
          <a:noFill/>
          <a:ln/>
        </p:spPr>
        <p:txBody>
          <a:bodyPr wrap="square" lIns="0" tIns="0" rIns="0" bIns="0" rtlCol="0" anchor="ctr"/>
          <a:lstStyle/>
          <a:p>
            <a:r>
              <a:rPr lang="en-US" sz="3467" b="1" dirty="0">
                <a:solidFill>
                  <a:srgbClr val="FFFFFF"/>
                </a:solidFill>
                <a:latin typeface="Georgia" pitchFamily="34" charset="0"/>
                <a:ea typeface="Georgia" pitchFamily="34" charset="-122"/>
                <a:cs typeface="Georgia" pitchFamily="34" charset="-120"/>
              </a:rPr>
              <a:t>Meta-Analysis: Independent Omics Pipelines</a:t>
            </a:r>
            <a:endParaRPr lang="en-US" sz="3467" dirty="0"/>
          </a:p>
        </p:txBody>
      </p:sp>
      <p:sp>
        <p:nvSpPr>
          <p:cNvPr id="5" name="Text 2"/>
          <p:cNvSpPr/>
          <p:nvPr/>
        </p:nvSpPr>
        <p:spPr>
          <a:xfrm>
            <a:off x="1524000" y="1036320"/>
            <a:ext cx="9997440" cy="548640"/>
          </a:xfrm>
          <a:prstGeom prst="rect">
            <a:avLst/>
          </a:prstGeom>
          <a:noFill/>
          <a:ln/>
        </p:spPr>
        <p:txBody>
          <a:bodyPr wrap="square" lIns="0" tIns="0" rIns="0" bIns="0" rtlCol="0" anchor="ctr"/>
          <a:lstStyle/>
          <a:p>
            <a:r>
              <a:rPr lang="en-US" sz="1733" i="1" dirty="0">
                <a:solidFill>
                  <a:srgbClr val="58E0C3"/>
                </a:solidFill>
                <a:latin typeface="Calibri" pitchFamily="34" charset="0"/>
                <a:ea typeface="Calibri" pitchFamily="34" charset="-122"/>
                <a:cs typeface="Calibri" pitchFamily="34" charset="-120"/>
              </a:rPr>
              <a:t>Each omics layer is analyzed separately, then results are compared post hoc</a:t>
            </a:r>
            <a:endParaRPr lang="en-US" sz="1733" dirty="0"/>
          </a:p>
        </p:txBody>
      </p:sp>
      <p:sp>
        <p:nvSpPr>
          <p:cNvPr id="6" name="Shape 3"/>
          <p:cNvSpPr/>
          <p:nvPr/>
        </p:nvSpPr>
        <p:spPr>
          <a:xfrm>
            <a:off x="731520" y="2316480"/>
            <a:ext cx="3291840" cy="3779520"/>
          </a:xfrm>
          <a:prstGeom prst="rect">
            <a:avLst/>
          </a:prstGeom>
          <a:solidFill>
            <a:srgbClr val="FFFFFF"/>
          </a:solidFill>
          <a:ln/>
          <a:effectLst>
            <a:outerShdw blurRad="76200" dist="25400" dir="16200000" algn="bl" rotWithShape="0">
              <a:srgbClr val="C0C0C0">
                <a:alpha val="30000"/>
              </a:srgbClr>
            </a:outerShdw>
          </a:effectLst>
        </p:spPr>
        <p:txBody>
          <a:bodyPr/>
          <a:lstStyle/>
          <a:p>
            <a:endParaRPr lang="en-US" sz="2400"/>
          </a:p>
        </p:txBody>
      </p:sp>
      <p:sp>
        <p:nvSpPr>
          <p:cNvPr id="7" name="Shape 4"/>
          <p:cNvSpPr/>
          <p:nvPr/>
        </p:nvSpPr>
        <p:spPr>
          <a:xfrm>
            <a:off x="731520" y="2316480"/>
            <a:ext cx="3291840" cy="85344"/>
          </a:xfrm>
          <a:prstGeom prst="rect">
            <a:avLst/>
          </a:prstGeom>
          <a:solidFill>
            <a:srgbClr val="088395"/>
          </a:solidFill>
          <a:ln/>
        </p:spPr>
        <p:txBody>
          <a:bodyPr/>
          <a:lstStyle/>
          <a:p>
            <a:endParaRPr lang="en-US" sz="2400"/>
          </a:p>
        </p:txBody>
      </p:sp>
      <p:sp>
        <p:nvSpPr>
          <p:cNvPr id="8" name="Text 5"/>
          <p:cNvSpPr/>
          <p:nvPr/>
        </p:nvSpPr>
        <p:spPr>
          <a:xfrm>
            <a:off x="914400" y="2621280"/>
            <a:ext cx="548640" cy="548640"/>
          </a:xfrm>
          <a:prstGeom prst="ellipse">
            <a:avLst/>
          </a:prstGeom>
          <a:solidFill>
            <a:srgbClr val="088395"/>
          </a:solidFill>
          <a:ln/>
        </p:spPr>
        <p:txBody>
          <a:bodyPr wrap="square" rtlCol="0" anchor="ctr"/>
          <a:lstStyle/>
          <a:p>
            <a:pPr algn="ctr"/>
            <a:r>
              <a:rPr lang="en-US" sz="2400" b="1" dirty="0">
                <a:solidFill>
                  <a:srgbClr val="FFFFFF"/>
                </a:solidFill>
                <a:latin typeface="Georgia" pitchFamily="34" charset="0"/>
                <a:ea typeface="Georgia" pitchFamily="34" charset="-122"/>
                <a:cs typeface="Georgia" pitchFamily="34" charset="-120"/>
              </a:rPr>
              <a:t>1</a:t>
            </a:r>
            <a:endParaRPr lang="en-US" sz="2400" dirty="0"/>
          </a:p>
        </p:txBody>
      </p:sp>
      <p:sp>
        <p:nvSpPr>
          <p:cNvPr id="9" name="Text 6"/>
          <p:cNvSpPr/>
          <p:nvPr/>
        </p:nvSpPr>
        <p:spPr>
          <a:xfrm>
            <a:off x="1584960" y="2621280"/>
            <a:ext cx="2255520" cy="548640"/>
          </a:xfrm>
          <a:prstGeom prst="rect">
            <a:avLst/>
          </a:prstGeom>
          <a:noFill/>
          <a:ln/>
        </p:spPr>
        <p:txBody>
          <a:bodyPr wrap="square" lIns="0" tIns="0" rIns="0" bIns="0" rtlCol="0" anchor="ctr"/>
          <a:lstStyle/>
          <a:p>
            <a:r>
              <a:rPr lang="en-US" sz="1867" b="1" dirty="0">
                <a:solidFill>
                  <a:srgbClr val="1A2B34"/>
                </a:solidFill>
                <a:latin typeface="Georgia" pitchFamily="34" charset="0"/>
                <a:ea typeface="Georgia" pitchFamily="34" charset="-122"/>
                <a:cs typeface="Georgia" pitchFamily="34" charset="-120"/>
              </a:rPr>
              <a:t>Analyze Each Omics Layer</a:t>
            </a:r>
            <a:endParaRPr lang="en-US" sz="1867" dirty="0"/>
          </a:p>
        </p:txBody>
      </p:sp>
      <p:pic>
        <p:nvPicPr>
          <p:cNvPr id="10" name="Image 1" descr="preencoded.png"/>
          <p:cNvPicPr>
            <a:picLocks noChangeAspect="1"/>
          </p:cNvPicPr>
          <p:nvPr/>
        </p:nvPicPr>
        <p:blipFill>
          <a:blip r:embed="rId4"/>
          <a:stretch>
            <a:fillRect/>
          </a:stretch>
        </p:blipFill>
        <p:spPr>
          <a:xfrm>
            <a:off x="975360" y="3413760"/>
            <a:ext cx="390144" cy="390144"/>
          </a:xfrm>
          <a:prstGeom prst="rect">
            <a:avLst/>
          </a:prstGeom>
        </p:spPr>
      </p:pic>
      <p:sp>
        <p:nvSpPr>
          <p:cNvPr id="11" name="Text 7"/>
          <p:cNvSpPr/>
          <p:nvPr/>
        </p:nvSpPr>
        <p:spPr>
          <a:xfrm>
            <a:off x="1487424" y="3352800"/>
            <a:ext cx="2316480" cy="792480"/>
          </a:xfrm>
          <a:prstGeom prst="rect">
            <a:avLst/>
          </a:prstGeom>
          <a:noFill/>
          <a:ln/>
        </p:spPr>
        <p:txBody>
          <a:bodyPr wrap="square" lIns="0" tIns="0" rIns="0" bIns="0" rtlCol="0" anchor="ctr"/>
          <a:lstStyle/>
          <a:p>
            <a:r>
              <a:rPr lang="en-US" sz="1333" dirty="0">
                <a:solidFill>
                  <a:srgbClr val="4A6670"/>
                </a:solidFill>
                <a:latin typeface="Calibri" pitchFamily="34" charset="0"/>
                <a:ea typeface="Calibri" pitchFamily="34" charset="-122"/>
                <a:cs typeface="Calibri" pitchFamily="34" charset="-120"/>
              </a:rPr>
              <a:t>RNA-seq → DESeq2 / edgeR</a:t>
            </a:r>
            <a:endParaRPr lang="en-US" sz="1333" dirty="0"/>
          </a:p>
          <a:p>
            <a:r>
              <a:rPr lang="en-US" sz="1333" dirty="0">
                <a:solidFill>
                  <a:srgbClr val="4A6670"/>
                </a:solidFill>
                <a:latin typeface="Calibri" pitchFamily="34" charset="0"/>
                <a:ea typeface="Calibri" pitchFamily="34" charset="-122"/>
                <a:cs typeface="Calibri" pitchFamily="34" charset="-120"/>
              </a:rPr>
              <a:t>Differential gene expression</a:t>
            </a:r>
            <a:endParaRPr lang="en-US" sz="1333" dirty="0"/>
          </a:p>
        </p:txBody>
      </p:sp>
      <p:pic>
        <p:nvPicPr>
          <p:cNvPr id="12" name="Image 2" descr="preencoded.png"/>
          <p:cNvPicPr>
            <a:picLocks noChangeAspect="1"/>
          </p:cNvPicPr>
          <p:nvPr/>
        </p:nvPicPr>
        <p:blipFill>
          <a:blip r:embed="rId5"/>
          <a:stretch>
            <a:fillRect/>
          </a:stretch>
        </p:blipFill>
        <p:spPr>
          <a:xfrm>
            <a:off x="975360" y="4267200"/>
            <a:ext cx="390144" cy="390144"/>
          </a:xfrm>
          <a:prstGeom prst="rect">
            <a:avLst/>
          </a:prstGeom>
        </p:spPr>
      </p:pic>
      <p:sp>
        <p:nvSpPr>
          <p:cNvPr id="13" name="Text 8"/>
          <p:cNvSpPr/>
          <p:nvPr/>
        </p:nvSpPr>
        <p:spPr>
          <a:xfrm>
            <a:off x="1487424" y="4206240"/>
            <a:ext cx="2316480" cy="792480"/>
          </a:xfrm>
          <a:prstGeom prst="rect">
            <a:avLst/>
          </a:prstGeom>
          <a:noFill/>
          <a:ln/>
        </p:spPr>
        <p:txBody>
          <a:bodyPr wrap="square" lIns="0" tIns="0" rIns="0" bIns="0" rtlCol="0" anchor="ctr"/>
          <a:lstStyle/>
          <a:p>
            <a:r>
              <a:rPr lang="en-US" sz="1333" dirty="0">
                <a:solidFill>
                  <a:srgbClr val="4A6670"/>
                </a:solidFill>
                <a:latin typeface="Calibri" pitchFamily="34" charset="0"/>
                <a:ea typeface="Calibri" pitchFamily="34" charset="-122"/>
                <a:cs typeface="Calibri" pitchFamily="34" charset="-120"/>
              </a:rPr>
              <a:t>Methylation → limma / DMRcate</a:t>
            </a:r>
            <a:endParaRPr lang="en-US" sz="1333" dirty="0"/>
          </a:p>
          <a:p>
            <a:r>
              <a:rPr lang="en-US" sz="1333" dirty="0">
                <a:solidFill>
                  <a:srgbClr val="4A6670"/>
                </a:solidFill>
                <a:latin typeface="Calibri" pitchFamily="34" charset="0"/>
                <a:ea typeface="Calibri" pitchFamily="34" charset="-122"/>
                <a:cs typeface="Calibri" pitchFamily="34" charset="-120"/>
              </a:rPr>
              <a:t>Differential CpG analysis</a:t>
            </a:r>
            <a:endParaRPr lang="en-US" sz="1333" dirty="0"/>
          </a:p>
        </p:txBody>
      </p:sp>
      <p:pic>
        <p:nvPicPr>
          <p:cNvPr id="14" name="Image 3" descr="preencoded.png"/>
          <p:cNvPicPr>
            <a:picLocks noChangeAspect="1"/>
          </p:cNvPicPr>
          <p:nvPr/>
        </p:nvPicPr>
        <p:blipFill>
          <a:blip r:embed="rId6"/>
          <a:stretch>
            <a:fillRect/>
          </a:stretch>
        </p:blipFill>
        <p:spPr>
          <a:xfrm>
            <a:off x="975360" y="5120640"/>
            <a:ext cx="390144" cy="390144"/>
          </a:xfrm>
          <a:prstGeom prst="rect">
            <a:avLst/>
          </a:prstGeom>
        </p:spPr>
      </p:pic>
      <p:sp>
        <p:nvSpPr>
          <p:cNvPr id="15" name="Text 9"/>
          <p:cNvSpPr/>
          <p:nvPr/>
        </p:nvSpPr>
        <p:spPr>
          <a:xfrm>
            <a:off x="1487424" y="5059680"/>
            <a:ext cx="2316480" cy="792480"/>
          </a:xfrm>
          <a:prstGeom prst="rect">
            <a:avLst/>
          </a:prstGeom>
          <a:noFill/>
          <a:ln/>
        </p:spPr>
        <p:txBody>
          <a:bodyPr wrap="square" lIns="0" tIns="0" rIns="0" bIns="0" rtlCol="0" anchor="ctr"/>
          <a:lstStyle/>
          <a:p>
            <a:r>
              <a:rPr lang="en-US" sz="1333" dirty="0">
                <a:solidFill>
                  <a:srgbClr val="4A6670"/>
                </a:solidFill>
                <a:latin typeface="Calibri" pitchFamily="34" charset="0"/>
                <a:ea typeface="Calibri" pitchFamily="34" charset="-122"/>
                <a:cs typeface="Calibri" pitchFamily="34" charset="-120"/>
              </a:rPr>
              <a:t>Proteomics → MaxQuant / Perseus</a:t>
            </a:r>
            <a:endParaRPr lang="en-US" sz="1333" dirty="0"/>
          </a:p>
          <a:p>
            <a:r>
              <a:rPr lang="en-US" sz="1333" dirty="0">
                <a:solidFill>
                  <a:srgbClr val="4A6670"/>
                </a:solidFill>
                <a:latin typeface="Calibri" pitchFamily="34" charset="0"/>
                <a:ea typeface="Calibri" pitchFamily="34" charset="-122"/>
                <a:cs typeface="Calibri" pitchFamily="34" charset="-120"/>
              </a:rPr>
              <a:t>Differential protein abundance</a:t>
            </a:r>
            <a:endParaRPr lang="en-US" sz="1333" dirty="0"/>
          </a:p>
        </p:txBody>
      </p:sp>
      <p:pic>
        <p:nvPicPr>
          <p:cNvPr id="16" name="Image 4" descr="preencoded.png"/>
          <p:cNvPicPr>
            <a:picLocks noChangeAspect="1"/>
          </p:cNvPicPr>
          <p:nvPr/>
        </p:nvPicPr>
        <p:blipFill>
          <a:blip r:embed="rId7"/>
          <a:stretch>
            <a:fillRect/>
          </a:stretch>
        </p:blipFill>
        <p:spPr>
          <a:xfrm>
            <a:off x="4084320" y="3962400"/>
            <a:ext cx="426720" cy="426720"/>
          </a:xfrm>
          <a:prstGeom prst="rect">
            <a:avLst/>
          </a:prstGeom>
        </p:spPr>
      </p:pic>
      <p:sp>
        <p:nvSpPr>
          <p:cNvPr id="17" name="Shape 10"/>
          <p:cNvSpPr/>
          <p:nvPr/>
        </p:nvSpPr>
        <p:spPr>
          <a:xfrm>
            <a:off x="4450080" y="2316480"/>
            <a:ext cx="3291840" cy="3779520"/>
          </a:xfrm>
          <a:prstGeom prst="rect">
            <a:avLst/>
          </a:prstGeom>
          <a:solidFill>
            <a:srgbClr val="FFFFFF"/>
          </a:solidFill>
          <a:ln/>
          <a:effectLst>
            <a:outerShdw blurRad="76200" dist="25400" dir="16200000" algn="bl" rotWithShape="0">
              <a:srgbClr val="C0C0C0">
                <a:alpha val="30000"/>
              </a:srgbClr>
            </a:outerShdw>
          </a:effectLst>
        </p:spPr>
        <p:txBody>
          <a:bodyPr/>
          <a:lstStyle/>
          <a:p>
            <a:endParaRPr lang="en-US" sz="2400"/>
          </a:p>
        </p:txBody>
      </p:sp>
      <p:sp>
        <p:nvSpPr>
          <p:cNvPr id="18" name="Shape 11"/>
          <p:cNvSpPr/>
          <p:nvPr/>
        </p:nvSpPr>
        <p:spPr>
          <a:xfrm>
            <a:off x="4450080" y="2316480"/>
            <a:ext cx="3291840" cy="85344"/>
          </a:xfrm>
          <a:prstGeom prst="rect">
            <a:avLst/>
          </a:prstGeom>
          <a:solidFill>
            <a:srgbClr val="088395"/>
          </a:solidFill>
          <a:ln/>
        </p:spPr>
        <p:txBody>
          <a:bodyPr/>
          <a:lstStyle/>
          <a:p>
            <a:endParaRPr lang="en-US" sz="2400"/>
          </a:p>
        </p:txBody>
      </p:sp>
      <p:sp>
        <p:nvSpPr>
          <p:cNvPr id="19" name="Text 12"/>
          <p:cNvSpPr/>
          <p:nvPr/>
        </p:nvSpPr>
        <p:spPr>
          <a:xfrm>
            <a:off x="4632960" y="2621280"/>
            <a:ext cx="548640" cy="548640"/>
          </a:xfrm>
          <a:prstGeom prst="ellipse">
            <a:avLst/>
          </a:prstGeom>
          <a:solidFill>
            <a:srgbClr val="088395"/>
          </a:solidFill>
          <a:ln/>
        </p:spPr>
        <p:txBody>
          <a:bodyPr wrap="square" rtlCol="0" anchor="ctr"/>
          <a:lstStyle/>
          <a:p>
            <a:pPr algn="ctr"/>
            <a:r>
              <a:rPr lang="en-US" sz="2400" b="1" dirty="0">
                <a:solidFill>
                  <a:srgbClr val="FFFFFF"/>
                </a:solidFill>
                <a:latin typeface="Georgia" pitchFamily="34" charset="0"/>
                <a:ea typeface="Georgia" pitchFamily="34" charset="-122"/>
                <a:cs typeface="Georgia" pitchFamily="34" charset="-120"/>
              </a:rPr>
              <a:t>2</a:t>
            </a:r>
            <a:endParaRPr lang="en-US" sz="2400" dirty="0"/>
          </a:p>
        </p:txBody>
      </p:sp>
      <p:sp>
        <p:nvSpPr>
          <p:cNvPr id="20" name="Text 13"/>
          <p:cNvSpPr/>
          <p:nvPr/>
        </p:nvSpPr>
        <p:spPr>
          <a:xfrm>
            <a:off x="5303520" y="2621280"/>
            <a:ext cx="2255520" cy="548640"/>
          </a:xfrm>
          <a:prstGeom prst="rect">
            <a:avLst/>
          </a:prstGeom>
          <a:noFill/>
          <a:ln/>
        </p:spPr>
        <p:txBody>
          <a:bodyPr wrap="square" lIns="0" tIns="0" rIns="0" bIns="0" rtlCol="0" anchor="ctr"/>
          <a:lstStyle/>
          <a:p>
            <a:r>
              <a:rPr lang="en-US" sz="1867" b="1" dirty="0">
                <a:solidFill>
                  <a:srgbClr val="1A2B34"/>
                </a:solidFill>
                <a:latin typeface="Georgia" pitchFamily="34" charset="0"/>
                <a:ea typeface="Georgia" pitchFamily="34" charset="-122"/>
                <a:cs typeface="Georgia" pitchFamily="34" charset="-120"/>
              </a:rPr>
              <a:t>Generate Hit Lists</a:t>
            </a:r>
            <a:endParaRPr lang="en-US" sz="1867" dirty="0"/>
          </a:p>
        </p:txBody>
      </p:sp>
      <p:sp>
        <p:nvSpPr>
          <p:cNvPr id="21" name="Text 14"/>
          <p:cNvSpPr/>
          <p:nvPr/>
        </p:nvSpPr>
        <p:spPr>
          <a:xfrm>
            <a:off x="4693920" y="3352800"/>
            <a:ext cx="2926080" cy="2560320"/>
          </a:xfrm>
          <a:prstGeom prst="rect">
            <a:avLst/>
          </a:prstGeom>
          <a:noFill/>
          <a:ln/>
        </p:spPr>
        <p:txBody>
          <a:bodyPr wrap="square" lIns="0" tIns="0" rIns="0" bIns="0" rtlCol="0" anchor="ctr"/>
          <a:lstStyle/>
          <a:p>
            <a:r>
              <a:rPr lang="en-US" sz="1467" dirty="0">
                <a:solidFill>
                  <a:srgbClr val="4A6670"/>
                </a:solidFill>
                <a:latin typeface="Calibri" pitchFamily="34" charset="0"/>
                <a:ea typeface="Calibri" pitchFamily="34" charset="-122"/>
                <a:cs typeface="Calibri" pitchFamily="34" charset="-120"/>
              </a:rPr>
              <a:t>Each pipeline produces an independent</a:t>
            </a:r>
            <a:endParaRPr lang="en-US" sz="1467" dirty="0"/>
          </a:p>
          <a:p>
            <a:r>
              <a:rPr lang="en-US" sz="1467" dirty="0">
                <a:solidFill>
                  <a:srgbClr val="4A6670"/>
                </a:solidFill>
                <a:latin typeface="Calibri" pitchFamily="34" charset="0"/>
                <a:ea typeface="Calibri" pitchFamily="34" charset="-122"/>
                <a:cs typeface="Calibri" pitchFamily="34" charset="-120"/>
              </a:rPr>
              <a:t>list of significant features:</a:t>
            </a:r>
            <a:endParaRPr lang="en-US" sz="1467" dirty="0"/>
          </a:p>
          <a:p>
            <a:endParaRPr lang="en-US" sz="1467" dirty="0"/>
          </a:p>
          <a:p>
            <a:pPr marL="457189" indent="-457189">
              <a:buSzPct val="100000"/>
              <a:buChar char="•"/>
            </a:pPr>
            <a:r>
              <a:rPr lang="en-US" sz="1333" dirty="0">
                <a:solidFill>
                  <a:srgbClr val="4A6670"/>
                </a:solidFill>
                <a:latin typeface="Calibri" pitchFamily="34" charset="0"/>
                <a:ea typeface="Calibri" pitchFamily="34" charset="-122"/>
                <a:cs typeface="Calibri" pitchFamily="34" charset="-120"/>
              </a:rPr>
              <a:t>Downregulated genes (padj &lt; 0.05)</a:t>
            </a:r>
            <a:endParaRPr lang="en-US" sz="1467" dirty="0"/>
          </a:p>
          <a:p>
            <a:pPr marL="457189" indent="-457189">
              <a:buSzPct val="100000"/>
              <a:buChar char="•"/>
            </a:pPr>
            <a:r>
              <a:rPr lang="en-US" sz="1333" dirty="0">
                <a:solidFill>
                  <a:srgbClr val="4A6670"/>
                </a:solidFill>
                <a:latin typeface="Calibri" pitchFamily="34" charset="0"/>
                <a:ea typeface="Calibri" pitchFamily="34" charset="-122"/>
                <a:cs typeface="Calibri" pitchFamily="34" charset="-120"/>
              </a:rPr>
              <a:t>Hypermethylated promoters (Δβ &gt; 0.2)</a:t>
            </a:r>
            <a:endParaRPr lang="en-US" sz="1467" dirty="0"/>
          </a:p>
          <a:p>
            <a:pPr marL="457189" indent="-457189">
              <a:buSzPct val="100000"/>
              <a:buChar char="•"/>
            </a:pPr>
            <a:r>
              <a:rPr lang="en-US" sz="1333" dirty="0">
                <a:solidFill>
                  <a:srgbClr val="4A6670"/>
                </a:solidFill>
                <a:latin typeface="Calibri" pitchFamily="34" charset="0"/>
                <a:ea typeface="Calibri" pitchFamily="34" charset="-122"/>
                <a:cs typeface="Calibri" pitchFamily="34" charset="-120"/>
              </a:rPr>
              <a:t>Depleted proteins (log2FC &lt; -1)</a:t>
            </a:r>
            <a:endParaRPr lang="en-US" sz="1467" dirty="0"/>
          </a:p>
          <a:p>
            <a:endParaRPr lang="en-US" sz="1467" dirty="0"/>
          </a:p>
          <a:p>
            <a:r>
              <a:rPr lang="en-US" sz="1333" i="1" dirty="0">
                <a:solidFill>
                  <a:srgbClr val="4A6670"/>
                </a:solidFill>
                <a:latin typeface="Calibri" pitchFamily="34" charset="0"/>
                <a:ea typeface="Calibri" pitchFamily="34" charset="-122"/>
                <a:cs typeface="Calibri" pitchFamily="34" charset="-120"/>
              </a:rPr>
              <a:t>Thresholds are applied independently</a:t>
            </a:r>
            <a:endParaRPr lang="en-US" sz="1467" dirty="0"/>
          </a:p>
          <a:p>
            <a:r>
              <a:rPr lang="en-US" sz="1333" i="1" dirty="0">
                <a:solidFill>
                  <a:srgbClr val="4A6670"/>
                </a:solidFill>
                <a:latin typeface="Calibri" pitchFamily="34" charset="0"/>
                <a:ea typeface="Calibri" pitchFamily="34" charset="-122"/>
                <a:cs typeface="Calibri" pitchFamily="34" charset="-120"/>
              </a:rPr>
              <a:t>for each data type.</a:t>
            </a:r>
            <a:endParaRPr lang="en-US" sz="1467" dirty="0"/>
          </a:p>
        </p:txBody>
      </p:sp>
      <p:pic>
        <p:nvPicPr>
          <p:cNvPr id="22" name="Image 5" descr="preencoded.png"/>
          <p:cNvPicPr>
            <a:picLocks noChangeAspect="1"/>
          </p:cNvPicPr>
          <p:nvPr/>
        </p:nvPicPr>
        <p:blipFill>
          <a:blip r:embed="rId7"/>
          <a:stretch>
            <a:fillRect/>
          </a:stretch>
        </p:blipFill>
        <p:spPr>
          <a:xfrm>
            <a:off x="7802880" y="3962400"/>
            <a:ext cx="426720" cy="426720"/>
          </a:xfrm>
          <a:prstGeom prst="rect">
            <a:avLst/>
          </a:prstGeom>
        </p:spPr>
      </p:pic>
      <p:sp>
        <p:nvSpPr>
          <p:cNvPr id="23" name="Shape 15"/>
          <p:cNvSpPr/>
          <p:nvPr/>
        </p:nvSpPr>
        <p:spPr>
          <a:xfrm>
            <a:off x="8168640" y="2316480"/>
            <a:ext cx="3291840" cy="3779520"/>
          </a:xfrm>
          <a:prstGeom prst="rect">
            <a:avLst/>
          </a:prstGeom>
          <a:solidFill>
            <a:srgbClr val="FFFFFF"/>
          </a:solidFill>
          <a:ln/>
          <a:effectLst>
            <a:outerShdw blurRad="76200" dist="25400" dir="16200000" algn="bl" rotWithShape="0">
              <a:srgbClr val="C0C0C0">
                <a:alpha val="30000"/>
              </a:srgbClr>
            </a:outerShdw>
          </a:effectLst>
        </p:spPr>
        <p:txBody>
          <a:bodyPr/>
          <a:lstStyle/>
          <a:p>
            <a:endParaRPr lang="en-US" sz="2400"/>
          </a:p>
        </p:txBody>
      </p:sp>
      <p:sp>
        <p:nvSpPr>
          <p:cNvPr id="24" name="Shape 16"/>
          <p:cNvSpPr/>
          <p:nvPr/>
        </p:nvSpPr>
        <p:spPr>
          <a:xfrm>
            <a:off x="8168640" y="2316480"/>
            <a:ext cx="3291840" cy="85344"/>
          </a:xfrm>
          <a:prstGeom prst="rect">
            <a:avLst/>
          </a:prstGeom>
          <a:solidFill>
            <a:srgbClr val="10B9A0"/>
          </a:solidFill>
          <a:ln/>
        </p:spPr>
        <p:txBody>
          <a:bodyPr/>
          <a:lstStyle/>
          <a:p>
            <a:endParaRPr lang="en-US" sz="2400"/>
          </a:p>
        </p:txBody>
      </p:sp>
      <p:sp>
        <p:nvSpPr>
          <p:cNvPr id="25" name="Text 17"/>
          <p:cNvSpPr/>
          <p:nvPr/>
        </p:nvSpPr>
        <p:spPr>
          <a:xfrm>
            <a:off x="8351520" y="2621280"/>
            <a:ext cx="548640" cy="548640"/>
          </a:xfrm>
          <a:prstGeom prst="ellipse">
            <a:avLst/>
          </a:prstGeom>
          <a:solidFill>
            <a:srgbClr val="10B9A0"/>
          </a:solidFill>
          <a:ln/>
        </p:spPr>
        <p:txBody>
          <a:bodyPr wrap="square" rtlCol="0" anchor="ctr"/>
          <a:lstStyle/>
          <a:p>
            <a:pPr algn="ctr"/>
            <a:r>
              <a:rPr lang="en-US" sz="2400" b="1" dirty="0">
                <a:solidFill>
                  <a:srgbClr val="FFFFFF"/>
                </a:solidFill>
                <a:latin typeface="Georgia" pitchFamily="34" charset="0"/>
                <a:ea typeface="Georgia" pitchFamily="34" charset="-122"/>
                <a:cs typeface="Georgia" pitchFamily="34" charset="-120"/>
              </a:rPr>
              <a:t>3</a:t>
            </a:r>
            <a:endParaRPr lang="en-US" sz="2400" dirty="0"/>
          </a:p>
        </p:txBody>
      </p:sp>
      <p:sp>
        <p:nvSpPr>
          <p:cNvPr id="26" name="Text 18"/>
          <p:cNvSpPr/>
          <p:nvPr/>
        </p:nvSpPr>
        <p:spPr>
          <a:xfrm>
            <a:off x="9022080" y="2621280"/>
            <a:ext cx="2255520" cy="548640"/>
          </a:xfrm>
          <a:prstGeom prst="rect">
            <a:avLst/>
          </a:prstGeom>
          <a:noFill/>
          <a:ln/>
        </p:spPr>
        <p:txBody>
          <a:bodyPr wrap="square" lIns="0" tIns="0" rIns="0" bIns="0" rtlCol="0" anchor="ctr"/>
          <a:lstStyle/>
          <a:p>
            <a:r>
              <a:rPr lang="en-US" sz="1867" b="1" dirty="0">
                <a:solidFill>
                  <a:srgbClr val="1A2B34"/>
                </a:solidFill>
                <a:latin typeface="Georgia" pitchFamily="34" charset="0"/>
                <a:ea typeface="Georgia" pitchFamily="34" charset="-122"/>
                <a:cs typeface="Georgia" pitchFamily="34" charset="-120"/>
              </a:rPr>
              <a:t>Intersect Results</a:t>
            </a:r>
            <a:endParaRPr lang="en-US" sz="1867" dirty="0"/>
          </a:p>
        </p:txBody>
      </p:sp>
      <p:sp>
        <p:nvSpPr>
          <p:cNvPr id="27" name="Shape 19"/>
          <p:cNvSpPr/>
          <p:nvPr/>
        </p:nvSpPr>
        <p:spPr>
          <a:xfrm>
            <a:off x="8717280" y="3657600"/>
            <a:ext cx="1341120" cy="1097280"/>
          </a:xfrm>
          <a:prstGeom prst="ellipse">
            <a:avLst/>
          </a:prstGeom>
          <a:solidFill>
            <a:srgbClr val="088395">
              <a:alpha val="30000"/>
            </a:srgbClr>
          </a:solidFill>
          <a:ln w="19050">
            <a:solidFill>
              <a:srgbClr val="088395"/>
            </a:solidFill>
            <a:prstDash val="solid"/>
          </a:ln>
        </p:spPr>
        <p:txBody>
          <a:bodyPr/>
          <a:lstStyle/>
          <a:p>
            <a:endParaRPr lang="en-US" sz="2400"/>
          </a:p>
        </p:txBody>
      </p:sp>
      <p:sp>
        <p:nvSpPr>
          <p:cNvPr id="28" name="Shape 20"/>
          <p:cNvSpPr/>
          <p:nvPr/>
        </p:nvSpPr>
        <p:spPr>
          <a:xfrm>
            <a:off x="9570720" y="3657600"/>
            <a:ext cx="1341120" cy="1097280"/>
          </a:xfrm>
          <a:prstGeom prst="ellipse">
            <a:avLst/>
          </a:prstGeom>
          <a:solidFill>
            <a:srgbClr val="10B9A0">
              <a:alpha val="30000"/>
            </a:srgbClr>
          </a:solidFill>
          <a:ln w="19050">
            <a:solidFill>
              <a:srgbClr val="10B9A0"/>
            </a:solidFill>
            <a:prstDash val="solid"/>
          </a:ln>
        </p:spPr>
        <p:txBody>
          <a:bodyPr/>
          <a:lstStyle/>
          <a:p>
            <a:endParaRPr lang="en-US" sz="2400"/>
          </a:p>
        </p:txBody>
      </p:sp>
      <p:sp>
        <p:nvSpPr>
          <p:cNvPr id="29" name="Text 21"/>
          <p:cNvSpPr/>
          <p:nvPr/>
        </p:nvSpPr>
        <p:spPr>
          <a:xfrm>
            <a:off x="8656320" y="4023360"/>
            <a:ext cx="731520" cy="304800"/>
          </a:xfrm>
          <a:prstGeom prst="rect">
            <a:avLst/>
          </a:prstGeom>
          <a:noFill/>
          <a:ln/>
        </p:spPr>
        <p:txBody>
          <a:bodyPr wrap="square" lIns="0" tIns="0" rIns="0" bIns="0" rtlCol="0" anchor="ctr"/>
          <a:lstStyle/>
          <a:p>
            <a:pPr algn="ctr"/>
            <a:r>
              <a:rPr lang="en-US" sz="1067" b="1" dirty="0">
                <a:solidFill>
                  <a:srgbClr val="088395"/>
                </a:solidFill>
                <a:latin typeface="Calibri" pitchFamily="34" charset="0"/>
                <a:ea typeface="Calibri" pitchFamily="34" charset="-122"/>
                <a:cs typeface="Calibri" pitchFamily="34" charset="-120"/>
              </a:rPr>
              <a:t>RNA</a:t>
            </a:r>
            <a:endParaRPr lang="en-US" sz="1067" dirty="0"/>
          </a:p>
        </p:txBody>
      </p:sp>
      <p:sp>
        <p:nvSpPr>
          <p:cNvPr id="30" name="Text 22"/>
          <p:cNvSpPr/>
          <p:nvPr/>
        </p:nvSpPr>
        <p:spPr>
          <a:xfrm>
            <a:off x="10241280" y="4023360"/>
            <a:ext cx="731520" cy="304800"/>
          </a:xfrm>
          <a:prstGeom prst="rect">
            <a:avLst/>
          </a:prstGeom>
          <a:noFill/>
          <a:ln/>
        </p:spPr>
        <p:txBody>
          <a:bodyPr wrap="square" lIns="0" tIns="0" rIns="0" bIns="0" rtlCol="0" anchor="ctr"/>
          <a:lstStyle/>
          <a:p>
            <a:pPr algn="ctr"/>
            <a:r>
              <a:rPr lang="en-US" sz="1067" b="1" dirty="0">
                <a:solidFill>
                  <a:srgbClr val="10B9A0"/>
                </a:solidFill>
                <a:latin typeface="Calibri" pitchFamily="34" charset="0"/>
                <a:ea typeface="Calibri" pitchFamily="34" charset="-122"/>
                <a:cs typeface="Calibri" pitchFamily="34" charset="-120"/>
              </a:rPr>
              <a:t>Meth</a:t>
            </a:r>
            <a:endParaRPr lang="en-US" sz="1067" dirty="0"/>
          </a:p>
        </p:txBody>
      </p:sp>
      <p:sp>
        <p:nvSpPr>
          <p:cNvPr id="31" name="Text 23"/>
          <p:cNvSpPr/>
          <p:nvPr/>
        </p:nvSpPr>
        <p:spPr>
          <a:xfrm>
            <a:off x="8412480" y="4937760"/>
            <a:ext cx="2926080" cy="1645920"/>
          </a:xfrm>
          <a:prstGeom prst="rect">
            <a:avLst/>
          </a:prstGeom>
          <a:noFill/>
          <a:ln/>
        </p:spPr>
        <p:txBody>
          <a:bodyPr wrap="square" lIns="0" tIns="0" rIns="0" bIns="0" rtlCol="0" anchor="ctr"/>
          <a:lstStyle/>
          <a:p>
            <a:r>
              <a:rPr lang="en-US" sz="1333" dirty="0">
                <a:solidFill>
                  <a:srgbClr val="4A6670"/>
                </a:solidFill>
                <a:latin typeface="Calibri" pitchFamily="34" charset="0"/>
                <a:ea typeface="Calibri" pitchFamily="34" charset="-122"/>
                <a:cs typeface="Calibri" pitchFamily="34" charset="-120"/>
              </a:rPr>
              <a:t>Convergent hits found by overlap</a:t>
            </a:r>
            <a:endParaRPr lang="en-US" sz="1333" dirty="0"/>
          </a:p>
          <a:p>
            <a:r>
              <a:rPr lang="en-US" sz="1333" dirty="0">
                <a:solidFill>
                  <a:srgbClr val="4A6670"/>
                </a:solidFill>
                <a:latin typeface="Calibri" pitchFamily="34" charset="0"/>
                <a:ea typeface="Calibri" pitchFamily="34" charset="-122"/>
                <a:cs typeface="Calibri" pitchFamily="34" charset="-120"/>
              </a:rPr>
              <a:t>(e.g. silenced + hypermethylated genes)</a:t>
            </a:r>
            <a:endParaRPr lang="en-US" sz="1333" dirty="0"/>
          </a:p>
          <a:p>
            <a:endParaRPr lang="en-US" sz="1333" dirty="0"/>
          </a:p>
          <a:p>
            <a:r>
              <a:rPr lang="en-US" sz="1333" b="1" dirty="0">
                <a:solidFill>
                  <a:srgbClr val="1A2B34"/>
                </a:solidFill>
                <a:latin typeface="Calibri" pitchFamily="34" charset="0"/>
                <a:ea typeface="Calibri" pitchFamily="34" charset="-122"/>
                <a:cs typeface="Calibri" pitchFamily="34" charset="-120"/>
              </a:rPr>
              <a:t>Example: TCGA breast cancer studies</a:t>
            </a:r>
            <a:endParaRPr lang="en-US" sz="1333" dirty="0"/>
          </a:p>
          <a:p>
            <a:r>
              <a:rPr lang="en-US" sz="1333" b="1" dirty="0">
                <a:solidFill>
                  <a:srgbClr val="1A2B34"/>
                </a:solidFill>
                <a:latin typeface="Calibri" pitchFamily="34" charset="0"/>
                <a:ea typeface="Calibri" pitchFamily="34" charset="-122"/>
                <a:cs typeface="Calibri" pitchFamily="34" charset="-120"/>
              </a:rPr>
              <a:t>identified candidate tumor suppressors</a:t>
            </a:r>
            <a:endParaRPr lang="en-US" sz="1333" dirty="0"/>
          </a:p>
          <a:p>
            <a:r>
              <a:rPr lang="en-US" sz="1333" b="1" dirty="0">
                <a:solidFill>
                  <a:srgbClr val="1A2B34"/>
                </a:solidFill>
                <a:latin typeface="Calibri" pitchFamily="34" charset="0"/>
                <a:ea typeface="Calibri" pitchFamily="34" charset="-122"/>
                <a:cs typeface="Calibri" pitchFamily="34" charset="-120"/>
              </a:rPr>
              <a:t>via Venn-diagram intersection of</a:t>
            </a:r>
            <a:endParaRPr lang="en-US" sz="1333" dirty="0"/>
          </a:p>
          <a:p>
            <a:r>
              <a:rPr lang="en-US" sz="1333" b="1" dirty="0">
                <a:solidFill>
                  <a:srgbClr val="1A2B34"/>
                </a:solidFill>
                <a:latin typeface="Calibri" pitchFamily="34" charset="0"/>
                <a:ea typeface="Calibri" pitchFamily="34" charset="-122"/>
                <a:cs typeface="Calibri" pitchFamily="34" charset="-120"/>
              </a:rPr>
              <a:t>DE genes and DM promoters.</a:t>
            </a:r>
            <a:endParaRPr lang="en-US" sz="1333" dirty="0"/>
          </a:p>
        </p:txBody>
      </p:sp>
      <p:sp>
        <p:nvSpPr>
          <p:cNvPr id="32" name="Text 24"/>
          <p:cNvSpPr/>
          <p:nvPr/>
        </p:nvSpPr>
        <p:spPr>
          <a:xfrm>
            <a:off x="731520" y="6278880"/>
            <a:ext cx="10728960" cy="426720"/>
          </a:xfrm>
          <a:prstGeom prst="rect">
            <a:avLst/>
          </a:prstGeom>
          <a:noFill/>
          <a:ln/>
        </p:spPr>
        <p:txBody>
          <a:bodyPr wrap="square" rtlCol="0" anchor="ctr"/>
          <a:lstStyle/>
          <a:p>
            <a:r>
              <a:rPr lang="en-US" sz="1200" i="1" dirty="0">
                <a:solidFill>
                  <a:srgbClr val="4A6670"/>
                </a:solidFill>
                <a:latin typeface="Calibri" pitchFamily="34" charset="0"/>
                <a:ea typeface="Calibri" pitchFamily="34" charset="-122"/>
                <a:cs typeface="Calibri" pitchFamily="34" charset="-120"/>
              </a:rPr>
              <a:t>Source: TCGA Consortium (Nature 2012) — Breast, Colorectal, GBM landmark studies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706880"/>
          </a:xfrm>
          <a:prstGeom prst="rect">
            <a:avLst/>
          </a:prstGeom>
          <a:solidFill>
            <a:srgbClr val="0B2027"/>
          </a:solidFill>
          <a:ln/>
        </p:spPr>
        <p:txBody>
          <a:bodyPr/>
          <a:lstStyle/>
          <a:p>
            <a:endParaRPr lang="en-US" sz="2400"/>
          </a:p>
        </p:txBody>
      </p:sp>
      <p:pic>
        <p:nvPicPr>
          <p:cNvPr id="3" name="Image 0" descr="preencoded.png"/>
          <p:cNvPicPr>
            <a:picLocks noChangeAspect="1"/>
          </p:cNvPicPr>
          <p:nvPr/>
        </p:nvPicPr>
        <p:blipFill>
          <a:blip r:embed="rId3"/>
          <a:stretch>
            <a:fillRect/>
          </a:stretch>
        </p:blipFill>
        <p:spPr>
          <a:xfrm>
            <a:off x="731520" y="365760"/>
            <a:ext cx="585216" cy="585216"/>
          </a:xfrm>
          <a:prstGeom prst="rect">
            <a:avLst/>
          </a:prstGeom>
        </p:spPr>
      </p:pic>
      <p:sp>
        <p:nvSpPr>
          <p:cNvPr id="4" name="Text 1"/>
          <p:cNvSpPr/>
          <p:nvPr/>
        </p:nvSpPr>
        <p:spPr>
          <a:xfrm>
            <a:off x="1524000" y="243840"/>
            <a:ext cx="9997440" cy="792480"/>
          </a:xfrm>
          <a:prstGeom prst="rect">
            <a:avLst/>
          </a:prstGeom>
          <a:noFill/>
          <a:ln/>
        </p:spPr>
        <p:txBody>
          <a:bodyPr wrap="square" lIns="0" tIns="0" rIns="0" bIns="0" rtlCol="0" anchor="ctr"/>
          <a:lstStyle/>
          <a:p>
            <a:r>
              <a:rPr lang="en-US" sz="3467" b="1" dirty="0">
                <a:solidFill>
                  <a:srgbClr val="FFFFFF"/>
                </a:solidFill>
                <a:latin typeface="Georgia" pitchFamily="34" charset="0"/>
                <a:ea typeface="Georgia" pitchFamily="34" charset="-122"/>
                <a:cs typeface="Georgia" pitchFamily="34" charset="-120"/>
              </a:rPr>
              <a:t>Challenges of Independent Analysis</a:t>
            </a:r>
            <a:endParaRPr lang="en-US" sz="3467" dirty="0"/>
          </a:p>
        </p:txBody>
      </p:sp>
      <p:sp>
        <p:nvSpPr>
          <p:cNvPr id="5" name="Text 2"/>
          <p:cNvSpPr/>
          <p:nvPr/>
        </p:nvSpPr>
        <p:spPr>
          <a:xfrm>
            <a:off x="1524000" y="975360"/>
            <a:ext cx="9997440" cy="487680"/>
          </a:xfrm>
          <a:prstGeom prst="rect">
            <a:avLst/>
          </a:prstGeom>
          <a:noFill/>
          <a:ln/>
        </p:spPr>
        <p:txBody>
          <a:bodyPr wrap="square" lIns="0" tIns="0" rIns="0" bIns="0" rtlCol="0" anchor="ctr"/>
          <a:lstStyle/>
          <a:p>
            <a:r>
              <a:rPr lang="en-US" sz="1733" i="1" dirty="0">
                <a:solidFill>
                  <a:srgbClr val="58E0C3"/>
                </a:solidFill>
                <a:latin typeface="Calibri" pitchFamily="34" charset="0"/>
                <a:ea typeface="Calibri" pitchFamily="34" charset="-122"/>
                <a:cs typeface="Calibri" pitchFamily="34" charset="-120"/>
              </a:rPr>
              <a:t>Why the overlap approach leaves biological signal on the table</a:t>
            </a:r>
            <a:endParaRPr lang="en-US" sz="1733" dirty="0"/>
          </a:p>
        </p:txBody>
      </p:sp>
      <p:sp>
        <p:nvSpPr>
          <p:cNvPr id="6" name="Shape 3"/>
          <p:cNvSpPr/>
          <p:nvPr/>
        </p:nvSpPr>
        <p:spPr>
          <a:xfrm>
            <a:off x="670560" y="2072640"/>
            <a:ext cx="5181600" cy="2072640"/>
          </a:xfrm>
          <a:prstGeom prst="rect">
            <a:avLst/>
          </a:prstGeom>
          <a:solidFill>
            <a:srgbClr val="FFFFFF"/>
          </a:solidFill>
          <a:ln/>
          <a:effectLst>
            <a:outerShdw blurRad="63500" dist="25400" dir="16200000" algn="bl" rotWithShape="0">
              <a:srgbClr val="C0C0C0">
                <a:alpha val="25000"/>
              </a:srgbClr>
            </a:outerShdw>
          </a:effectLst>
        </p:spPr>
        <p:txBody>
          <a:bodyPr/>
          <a:lstStyle/>
          <a:p>
            <a:endParaRPr lang="en-US" sz="2400"/>
          </a:p>
        </p:txBody>
      </p:sp>
      <p:sp>
        <p:nvSpPr>
          <p:cNvPr id="7" name="Shape 4"/>
          <p:cNvSpPr/>
          <p:nvPr/>
        </p:nvSpPr>
        <p:spPr>
          <a:xfrm>
            <a:off x="670560" y="2072640"/>
            <a:ext cx="85344" cy="2072640"/>
          </a:xfrm>
          <a:prstGeom prst="rect">
            <a:avLst/>
          </a:prstGeom>
          <a:solidFill>
            <a:srgbClr val="D94F5C"/>
          </a:solidFill>
          <a:ln/>
        </p:spPr>
        <p:txBody>
          <a:bodyPr/>
          <a:lstStyle/>
          <a:p>
            <a:endParaRPr lang="en-US" sz="2400"/>
          </a:p>
        </p:txBody>
      </p:sp>
      <p:pic>
        <p:nvPicPr>
          <p:cNvPr id="8" name="Image 1" descr="preencoded.png"/>
          <p:cNvPicPr>
            <a:picLocks noChangeAspect="1"/>
          </p:cNvPicPr>
          <p:nvPr/>
        </p:nvPicPr>
        <p:blipFill>
          <a:blip r:embed="rId4"/>
          <a:stretch>
            <a:fillRect/>
          </a:stretch>
        </p:blipFill>
        <p:spPr>
          <a:xfrm>
            <a:off x="914400" y="2292096"/>
            <a:ext cx="365760" cy="365760"/>
          </a:xfrm>
          <a:prstGeom prst="rect">
            <a:avLst/>
          </a:prstGeom>
        </p:spPr>
      </p:pic>
      <p:sp>
        <p:nvSpPr>
          <p:cNvPr id="9" name="Text 5"/>
          <p:cNvSpPr/>
          <p:nvPr/>
        </p:nvSpPr>
        <p:spPr>
          <a:xfrm>
            <a:off x="1402080" y="2255520"/>
            <a:ext cx="4145280" cy="426720"/>
          </a:xfrm>
          <a:prstGeom prst="rect">
            <a:avLst/>
          </a:prstGeom>
          <a:noFill/>
          <a:ln/>
        </p:spPr>
        <p:txBody>
          <a:bodyPr wrap="square" lIns="0" tIns="0" rIns="0" bIns="0" rtlCol="0" anchor="ctr"/>
          <a:lstStyle/>
          <a:p>
            <a:r>
              <a:rPr lang="en-US" sz="1733" b="1" dirty="0">
                <a:solidFill>
                  <a:srgbClr val="1A2B34"/>
                </a:solidFill>
                <a:latin typeface="Georgia" pitchFamily="34" charset="0"/>
                <a:ea typeface="Georgia" pitchFamily="34" charset="-122"/>
                <a:cs typeface="Georgia" pitchFamily="34" charset="-120"/>
              </a:rPr>
              <a:t>Loss of Sub-Threshold Signal</a:t>
            </a:r>
            <a:endParaRPr lang="en-US" sz="1733" dirty="0"/>
          </a:p>
        </p:txBody>
      </p:sp>
      <p:sp>
        <p:nvSpPr>
          <p:cNvPr id="10" name="Text 6"/>
          <p:cNvSpPr/>
          <p:nvPr/>
        </p:nvSpPr>
        <p:spPr>
          <a:xfrm>
            <a:off x="914400" y="2743200"/>
            <a:ext cx="4693920" cy="1280160"/>
          </a:xfrm>
          <a:prstGeom prst="rect">
            <a:avLst/>
          </a:prstGeom>
          <a:noFill/>
          <a:ln/>
        </p:spPr>
        <p:txBody>
          <a:bodyPr wrap="square" lIns="0" tIns="0" rIns="0" bIns="0" rtlCol="0" anchor="ctr"/>
          <a:lstStyle/>
          <a:p>
            <a:r>
              <a:rPr lang="en-US" sz="1333" dirty="0">
                <a:solidFill>
                  <a:srgbClr val="4A6670"/>
                </a:solidFill>
                <a:latin typeface="Calibri" pitchFamily="34" charset="0"/>
                <a:ea typeface="Calibri" pitchFamily="34" charset="-122"/>
                <a:cs typeface="Calibri" pitchFamily="34" charset="-120"/>
              </a:rPr>
              <a:t>Features must pass significance thresholds independently in each layer. A gene with modest expression change (p = 0.08) and modest methylation change (p = 0.06) is discarded — even if the joint signal is strong. This systematically misses coordinated, moderate-effect biology.</a:t>
            </a:r>
            <a:endParaRPr lang="en-US" sz="1333" dirty="0"/>
          </a:p>
        </p:txBody>
      </p:sp>
      <p:sp>
        <p:nvSpPr>
          <p:cNvPr id="11" name="Shape 7"/>
          <p:cNvSpPr/>
          <p:nvPr/>
        </p:nvSpPr>
        <p:spPr>
          <a:xfrm>
            <a:off x="6278880" y="2072640"/>
            <a:ext cx="5181600" cy="2072640"/>
          </a:xfrm>
          <a:prstGeom prst="rect">
            <a:avLst/>
          </a:prstGeom>
          <a:solidFill>
            <a:srgbClr val="FFFFFF"/>
          </a:solidFill>
          <a:ln/>
          <a:effectLst>
            <a:outerShdw blurRad="63500" dist="25400" dir="16200000" algn="bl" rotWithShape="0">
              <a:srgbClr val="C0C0C0">
                <a:alpha val="25000"/>
              </a:srgbClr>
            </a:outerShdw>
          </a:effectLst>
        </p:spPr>
        <p:txBody>
          <a:bodyPr/>
          <a:lstStyle/>
          <a:p>
            <a:endParaRPr lang="en-US" sz="2400"/>
          </a:p>
        </p:txBody>
      </p:sp>
      <p:sp>
        <p:nvSpPr>
          <p:cNvPr id="12" name="Shape 8"/>
          <p:cNvSpPr/>
          <p:nvPr/>
        </p:nvSpPr>
        <p:spPr>
          <a:xfrm>
            <a:off x="6278880" y="2072640"/>
            <a:ext cx="85344" cy="2072640"/>
          </a:xfrm>
          <a:prstGeom prst="rect">
            <a:avLst/>
          </a:prstGeom>
          <a:solidFill>
            <a:srgbClr val="D94F5C"/>
          </a:solidFill>
          <a:ln/>
        </p:spPr>
        <p:txBody>
          <a:bodyPr/>
          <a:lstStyle/>
          <a:p>
            <a:endParaRPr lang="en-US" sz="2400"/>
          </a:p>
        </p:txBody>
      </p:sp>
      <p:pic>
        <p:nvPicPr>
          <p:cNvPr id="13" name="Image 2" descr="preencoded.png"/>
          <p:cNvPicPr>
            <a:picLocks noChangeAspect="1"/>
          </p:cNvPicPr>
          <p:nvPr/>
        </p:nvPicPr>
        <p:blipFill>
          <a:blip r:embed="rId4"/>
          <a:stretch>
            <a:fillRect/>
          </a:stretch>
        </p:blipFill>
        <p:spPr>
          <a:xfrm>
            <a:off x="6522720" y="2292096"/>
            <a:ext cx="365760" cy="365760"/>
          </a:xfrm>
          <a:prstGeom prst="rect">
            <a:avLst/>
          </a:prstGeom>
        </p:spPr>
      </p:pic>
      <p:sp>
        <p:nvSpPr>
          <p:cNvPr id="14" name="Text 9"/>
          <p:cNvSpPr/>
          <p:nvPr/>
        </p:nvSpPr>
        <p:spPr>
          <a:xfrm>
            <a:off x="7010400" y="2255520"/>
            <a:ext cx="4145280" cy="426720"/>
          </a:xfrm>
          <a:prstGeom prst="rect">
            <a:avLst/>
          </a:prstGeom>
          <a:noFill/>
          <a:ln/>
        </p:spPr>
        <p:txBody>
          <a:bodyPr wrap="square" lIns="0" tIns="0" rIns="0" bIns="0" rtlCol="0" anchor="ctr"/>
          <a:lstStyle/>
          <a:p>
            <a:r>
              <a:rPr lang="en-US" sz="1733" b="1" dirty="0">
                <a:solidFill>
                  <a:srgbClr val="1A2B34"/>
                </a:solidFill>
                <a:latin typeface="Georgia" pitchFamily="34" charset="0"/>
                <a:ea typeface="Georgia" pitchFamily="34" charset="-122"/>
                <a:cs typeface="Georgia" pitchFamily="34" charset="-120"/>
              </a:rPr>
              <a:t>No Cross-Layer Interactions</a:t>
            </a:r>
            <a:endParaRPr lang="en-US" sz="1733" dirty="0"/>
          </a:p>
        </p:txBody>
      </p:sp>
      <p:sp>
        <p:nvSpPr>
          <p:cNvPr id="15" name="Text 10"/>
          <p:cNvSpPr/>
          <p:nvPr/>
        </p:nvSpPr>
        <p:spPr>
          <a:xfrm>
            <a:off x="6522720" y="2743200"/>
            <a:ext cx="4693920" cy="1280160"/>
          </a:xfrm>
          <a:prstGeom prst="rect">
            <a:avLst/>
          </a:prstGeom>
          <a:noFill/>
          <a:ln/>
        </p:spPr>
        <p:txBody>
          <a:bodyPr wrap="square" lIns="0" tIns="0" rIns="0" bIns="0" rtlCol="0" anchor="ctr"/>
          <a:lstStyle/>
          <a:p>
            <a:r>
              <a:rPr lang="en-US" sz="1333" dirty="0">
                <a:solidFill>
                  <a:srgbClr val="4A6670"/>
                </a:solidFill>
                <a:latin typeface="Calibri" pitchFamily="34" charset="0"/>
                <a:ea typeface="Calibri" pitchFamily="34" charset="-122"/>
                <a:cs typeface="Calibri" pitchFamily="34" charset="-120"/>
              </a:rPr>
              <a:t>Independent pipelines cannot model how one omics layer mechanistically influences another. A phosphorylation event triggering downstream transcription is invisible when phosphoproteomics and RNA-seq are analyzed in isolation with separate statistical models.</a:t>
            </a:r>
            <a:endParaRPr lang="en-US" sz="1333" dirty="0"/>
          </a:p>
        </p:txBody>
      </p:sp>
      <p:sp>
        <p:nvSpPr>
          <p:cNvPr id="16" name="Shape 11"/>
          <p:cNvSpPr/>
          <p:nvPr/>
        </p:nvSpPr>
        <p:spPr>
          <a:xfrm>
            <a:off x="670560" y="4511040"/>
            <a:ext cx="5181600" cy="2072640"/>
          </a:xfrm>
          <a:prstGeom prst="rect">
            <a:avLst/>
          </a:prstGeom>
          <a:solidFill>
            <a:srgbClr val="FFFFFF"/>
          </a:solidFill>
          <a:ln/>
          <a:effectLst>
            <a:outerShdw blurRad="63500" dist="25400" dir="16200000" algn="bl" rotWithShape="0">
              <a:srgbClr val="C0C0C0">
                <a:alpha val="25000"/>
              </a:srgbClr>
            </a:outerShdw>
          </a:effectLst>
        </p:spPr>
        <p:txBody>
          <a:bodyPr/>
          <a:lstStyle/>
          <a:p>
            <a:endParaRPr lang="en-US" sz="2400"/>
          </a:p>
        </p:txBody>
      </p:sp>
      <p:sp>
        <p:nvSpPr>
          <p:cNvPr id="17" name="Shape 12"/>
          <p:cNvSpPr/>
          <p:nvPr/>
        </p:nvSpPr>
        <p:spPr>
          <a:xfrm>
            <a:off x="670560" y="4511040"/>
            <a:ext cx="85344" cy="2072640"/>
          </a:xfrm>
          <a:prstGeom prst="rect">
            <a:avLst/>
          </a:prstGeom>
          <a:solidFill>
            <a:srgbClr val="D94F5C"/>
          </a:solidFill>
          <a:ln/>
        </p:spPr>
        <p:txBody>
          <a:bodyPr/>
          <a:lstStyle/>
          <a:p>
            <a:endParaRPr lang="en-US" sz="2400"/>
          </a:p>
        </p:txBody>
      </p:sp>
      <p:pic>
        <p:nvPicPr>
          <p:cNvPr id="18" name="Image 3" descr="preencoded.png"/>
          <p:cNvPicPr>
            <a:picLocks noChangeAspect="1"/>
          </p:cNvPicPr>
          <p:nvPr/>
        </p:nvPicPr>
        <p:blipFill>
          <a:blip r:embed="rId4"/>
          <a:stretch>
            <a:fillRect/>
          </a:stretch>
        </p:blipFill>
        <p:spPr>
          <a:xfrm>
            <a:off x="914400" y="4730496"/>
            <a:ext cx="365760" cy="365760"/>
          </a:xfrm>
          <a:prstGeom prst="rect">
            <a:avLst/>
          </a:prstGeom>
        </p:spPr>
      </p:pic>
      <p:sp>
        <p:nvSpPr>
          <p:cNvPr id="19" name="Text 13"/>
          <p:cNvSpPr/>
          <p:nvPr/>
        </p:nvSpPr>
        <p:spPr>
          <a:xfrm>
            <a:off x="1402080" y="4693920"/>
            <a:ext cx="4145280" cy="426720"/>
          </a:xfrm>
          <a:prstGeom prst="rect">
            <a:avLst/>
          </a:prstGeom>
          <a:noFill/>
          <a:ln/>
        </p:spPr>
        <p:txBody>
          <a:bodyPr wrap="square" lIns="0" tIns="0" rIns="0" bIns="0" rtlCol="0" anchor="ctr"/>
          <a:lstStyle/>
          <a:p>
            <a:r>
              <a:rPr lang="en-US" sz="1733" b="1" dirty="0">
                <a:solidFill>
                  <a:srgbClr val="1A2B34"/>
                </a:solidFill>
                <a:latin typeface="Georgia" pitchFamily="34" charset="0"/>
                <a:ea typeface="Georgia" pitchFamily="34" charset="-122"/>
                <a:cs typeface="Georgia" pitchFamily="34" charset="-120"/>
              </a:rPr>
              <a:t>Heterogeneous Feature Spaces</a:t>
            </a:r>
            <a:endParaRPr lang="en-US" sz="1733" dirty="0"/>
          </a:p>
        </p:txBody>
      </p:sp>
      <p:sp>
        <p:nvSpPr>
          <p:cNvPr id="20" name="Text 14"/>
          <p:cNvSpPr/>
          <p:nvPr/>
        </p:nvSpPr>
        <p:spPr>
          <a:xfrm>
            <a:off x="914400" y="5181600"/>
            <a:ext cx="4693920" cy="1280160"/>
          </a:xfrm>
          <a:prstGeom prst="rect">
            <a:avLst/>
          </a:prstGeom>
          <a:noFill/>
          <a:ln/>
        </p:spPr>
        <p:txBody>
          <a:bodyPr wrap="square" lIns="0" tIns="0" rIns="0" bIns="0" rtlCol="0" anchor="ctr"/>
          <a:lstStyle/>
          <a:p>
            <a:r>
              <a:rPr lang="en-US" sz="1333" dirty="0">
                <a:solidFill>
                  <a:srgbClr val="4A6670"/>
                </a:solidFill>
                <a:latin typeface="Calibri" pitchFamily="34" charset="0"/>
                <a:ea typeface="Calibri" pitchFamily="34" charset="-122"/>
                <a:cs typeface="Calibri" pitchFamily="34" charset="-120"/>
              </a:rPr>
              <a:t>Each omics has different dimensionality (20K genes vs 500K peaks vs 5K metabolites), data distributions (counts vs intensities vs beta values), and sparsity (10–45% non-zero in scRNA-seq vs 1–10% in scATAC-seq). Venn overlaps ignore these fundamental asymmetries.</a:t>
            </a:r>
            <a:endParaRPr lang="en-US" sz="1333" dirty="0"/>
          </a:p>
        </p:txBody>
      </p:sp>
      <p:sp>
        <p:nvSpPr>
          <p:cNvPr id="21" name="Shape 15"/>
          <p:cNvSpPr/>
          <p:nvPr/>
        </p:nvSpPr>
        <p:spPr>
          <a:xfrm>
            <a:off x="6278880" y="4511040"/>
            <a:ext cx="5181600" cy="2072640"/>
          </a:xfrm>
          <a:prstGeom prst="rect">
            <a:avLst/>
          </a:prstGeom>
          <a:solidFill>
            <a:srgbClr val="FFFFFF"/>
          </a:solidFill>
          <a:ln/>
          <a:effectLst>
            <a:outerShdw blurRad="63500" dist="25400" dir="16200000" algn="bl" rotWithShape="0">
              <a:srgbClr val="C0C0C0">
                <a:alpha val="25000"/>
              </a:srgbClr>
            </a:outerShdw>
          </a:effectLst>
        </p:spPr>
        <p:txBody>
          <a:bodyPr/>
          <a:lstStyle/>
          <a:p>
            <a:endParaRPr lang="en-US" sz="2400"/>
          </a:p>
        </p:txBody>
      </p:sp>
      <p:sp>
        <p:nvSpPr>
          <p:cNvPr id="22" name="Shape 16"/>
          <p:cNvSpPr/>
          <p:nvPr/>
        </p:nvSpPr>
        <p:spPr>
          <a:xfrm>
            <a:off x="6278880" y="4511040"/>
            <a:ext cx="85344" cy="2072640"/>
          </a:xfrm>
          <a:prstGeom prst="rect">
            <a:avLst/>
          </a:prstGeom>
          <a:solidFill>
            <a:srgbClr val="D94F5C"/>
          </a:solidFill>
          <a:ln/>
        </p:spPr>
        <p:txBody>
          <a:bodyPr/>
          <a:lstStyle/>
          <a:p>
            <a:endParaRPr lang="en-US" sz="2400"/>
          </a:p>
        </p:txBody>
      </p:sp>
      <p:pic>
        <p:nvPicPr>
          <p:cNvPr id="23" name="Image 4" descr="preencoded.png"/>
          <p:cNvPicPr>
            <a:picLocks noChangeAspect="1"/>
          </p:cNvPicPr>
          <p:nvPr/>
        </p:nvPicPr>
        <p:blipFill>
          <a:blip r:embed="rId4"/>
          <a:stretch>
            <a:fillRect/>
          </a:stretch>
        </p:blipFill>
        <p:spPr>
          <a:xfrm>
            <a:off x="6522720" y="4730496"/>
            <a:ext cx="365760" cy="365760"/>
          </a:xfrm>
          <a:prstGeom prst="rect">
            <a:avLst/>
          </a:prstGeom>
        </p:spPr>
      </p:pic>
      <p:sp>
        <p:nvSpPr>
          <p:cNvPr id="24" name="Text 17"/>
          <p:cNvSpPr/>
          <p:nvPr/>
        </p:nvSpPr>
        <p:spPr>
          <a:xfrm>
            <a:off x="7010400" y="4693920"/>
            <a:ext cx="4145280" cy="426720"/>
          </a:xfrm>
          <a:prstGeom prst="rect">
            <a:avLst/>
          </a:prstGeom>
          <a:noFill/>
          <a:ln/>
        </p:spPr>
        <p:txBody>
          <a:bodyPr wrap="square" lIns="0" tIns="0" rIns="0" bIns="0" rtlCol="0" anchor="ctr"/>
          <a:lstStyle/>
          <a:p>
            <a:r>
              <a:rPr lang="en-US" sz="1733" b="1" dirty="0">
                <a:solidFill>
                  <a:srgbClr val="1A2B34"/>
                </a:solidFill>
                <a:latin typeface="Georgia" pitchFamily="34" charset="0"/>
                <a:ea typeface="Georgia" pitchFamily="34" charset="-122"/>
                <a:cs typeface="Georgia" pitchFamily="34" charset="-120"/>
              </a:rPr>
              <a:t>Inflation of False Negatives</a:t>
            </a:r>
            <a:endParaRPr lang="en-US" sz="1733" dirty="0"/>
          </a:p>
        </p:txBody>
      </p:sp>
      <p:sp>
        <p:nvSpPr>
          <p:cNvPr id="25" name="Text 18"/>
          <p:cNvSpPr/>
          <p:nvPr/>
        </p:nvSpPr>
        <p:spPr>
          <a:xfrm>
            <a:off x="6522720" y="5181600"/>
            <a:ext cx="4693920" cy="1280160"/>
          </a:xfrm>
          <a:prstGeom prst="rect">
            <a:avLst/>
          </a:prstGeom>
          <a:noFill/>
          <a:ln/>
        </p:spPr>
        <p:txBody>
          <a:bodyPr wrap="square" lIns="0" tIns="0" rIns="0" bIns="0" rtlCol="0" anchor="ctr"/>
          <a:lstStyle/>
          <a:p>
            <a:r>
              <a:rPr lang="en-US" sz="1333" dirty="0">
                <a:solidFill>
                  <a:srgbClr val="4A6670"/>
                </a:solidFill>
                <a:latin typeface="Calibri" pitchFamily="34" charset="0"/>
                <a:ea typeface="Calibri" pitchFamily="34" charset="-122"/>
                <a:cs typeface="Calibri" pitchFamily="34" charset="-120"/>
              </a:rPr>
              <a:t>Intersection-based approaches are overly conservative. If each layer independently has 80% power, the intersection has only ~64% power to detect a true cross-omics signal. The more layers intersected, the worse this compounds.</a:t>
            </a:r>
            <a:endParaRPr lang="en-US" sz="1333" dirty="0"/>
          </a:p>
        </p:txBody>
      </p:sp>
      <p:sp>
        <p:nvSpPr>
          <p:cNvPr id="26" name="Text 19"/>
          <p:cNvSpPr/>
          <p:nvPr/>
        </p:nvSpPr>
        <p:spPr>
          <a:xfrm>
            <a:off x="670560" y="6339840"/>
            <a:ext cx="10850880" cy="365760"/>
          </a:xfrm>
          <a:prstGeom prst="rect">
            <a:avLst/>
          </a:prstGeom>
          <a:noFill/>
          <a:ln/>
        </p:spPr>
        <p:txBody>
          <a:bodyPr wrap="square" rtlCol="0" anchor="ctr"/>
          <a:lstStyle/>
          <a:p>
            <a:r>
              <a:rPr lang="en-US" sz="1067" i="1" dirty="0">
                <a:solidFill>
                  <a:srgbClr val="4A6670"/>
                </a:solidFill>
                <a:latin typeface="Calibri" pitchFamily="34" charset="0"/>
                <a:ea typeface="Calibri" pitchFamily="34" charset="-122"/>
                <a:cs typeface="Calibri" pitchFamily="34" charset="-120"/>
              </a:rPr>
              <a:t>Chen et al. Genome Biology 2019 · Barros et al. Briefings in Bioinformatics 2025 · Gómez-de-Mariscal et al. Frontiers in Genetics 2024</a:t>
            </a:r>
            <a:endParaRPr lang="en-US" sz="106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706880"/>
          </a:xfrm>
          <a:prstGeom prst="rect">
            <a:avLst/>
          </a:prstGeom>
          <a:solidFill>
            <a:srgbClr val="0B2027"/>
          </a:solidFill>
          <a:ln/>
        </p:spPr>
        <p:txBody>
          <a:bodyPr/>
          <a:lstStyle/>
          <a:p>
            <a:endParaRPr lang="en-US" sz="2400"/>
          </a:p>
        </p:txBody>
      </p:sp>
      <p:pic>
        <p:nvPicPr>
          <p:cNvPr id="3" name="Image 0" descr="preencoded.png"/>
          <p:cNvPicPr>
            <a:picLocks noChangeAspect="1"/>
          </p:cNvPicPr>
          <p:nvPr/>
        </p:nvPicPr>
        <p:blipFill>
          <a:blip r:embed="rId3"/>
          <a:stretch>
            <a:fillRect/>
          </a:stretch>
        </p:blipFill>
        <p:spPr>
          <a:xfrm>
            <a:off x="731520" y="365760"/>
            <a:ext cx="585216" cy="585216"/>
          </a:xfrm>
          <a:prstGeom prst="rect">
            <a:avLst/>
          </a:prstGeom>
        </p:spPr>
      </p:pic>
      <p:sp>
        <p:nvSpPr>
          <p:cNvPr id="4" name="Text 1"/>
          <p:cNvSpPr/>
          <p:nvPr/>
        </p:nvSpPr>
        <p:spPr>
          <a:xfrm>
            <a:off x="1524000" y="243840"/>
            <a:ext cx="9997440" cy="792480"/>
          </a:xfrm>
          <a:prstGeom prst="rect">
            <a:avLst/>
          </a:prstGeom>
          <a:noFill/>
          <a:ln/>
        </p:spPr>
        <p:txBody>
          <a:bodyPr wrap="square" lIns="0" tIns="0" rIns="0" bIns="0" rtlCol="0" anchor="ctr"/>
          <a:lstStyle/>
          <a:p>
            <a:r>
              <a:rPr lang="en-US" sz="3467" b="1" dirty="0">
                <a:solidFill>
                  <a:srgbClr val="FFFFFF"/>
                </a:solidFill>
                <a:latin typeface="Georgia" pitchFamily="34" charset="0"/>
                <a:ea typeface="Georgia" pitchFamily="34" charset="-122"/>
                <a:cs typeface="Georgia" pitchFamily="34" charset="-120"/>
              </a:rPr>
              <a:t>Integrative Solutions: Multi-Modal Approaches</a:t>
            </a:r>
            <a:endParaRPr lang="en-US" sz="3467" dirty="0"/>
          </a:p>
        </p:txBody>
      </p:sp>
      <p:sp>
        <p:nvSpPr>
          <p:cNvPr id="5" name="Text 2"/>
          <p:cNvSpPr/>
          <p:nvPr/>
        </p:nvSpPr>
        <p:spPr>
          <a:xfrm>
            <a:off x="1524000" y="975360"/>
            <a:ext cx="9997440" cy="487680"/>
          </a:xfrm>
          <a:prstGeom prst="rect">
            <a:avLst/>
          </a:prstGeom>
          <a:noFill/>
          <a:ln/>
        </p:spPr>
        <p:txBody>
          <a:bodyPr wrap="square" lIns="0" tIns="0" rIns="0" bIns="0" rtlCol="0" anchor="ctr"/>
          <a:lstStyle/>
          <a:p>
            <a:r>
              <a:rPr lang="en-US" sz="1733" i="1" dirty="0">
                <a:solidFill>
                  <a:srgbClr val="58E0C3"/>
                </a:solidFill>
                <a:latin typeface="Calibri" pitchFamily="34" charset="0"/>
                <a:ea typeface="Calibri" pitchFamily="34" charset="-122"/>
                <a:cs typeface="Calibri" pitchFamily="34" charset="-120"/>
              </a:rPr>
              <a:t>Joint modeling captures cross-layer interactions that overlap approaches miss</a:t>
            </a:r>
            <a:endParaRPr lang="en-US" sz="1733" dirty="0"/>
          </a:p>
        </p:txBody>
      </p:sp>
      <p:sp>
        <p:nvSpPr>
          <p:cNvPr id="6" name="Shape 3"/>
          <p:cNvSpPr/>
          <p:nvPr/>
        </p:nvSpPr>
        <p:spPr>
          <a:xfrm>
            <a:off x="731520" y="2011680"/>
            <a:ext cx="3413760" cy="4267200"/>
          </a:xfrm>
          <a:prstGeom prst="rect">
            <a:avLst/>
          </a:prstGeom>
          <a:solidFill>
            <a:srgbClr val="FFFFFF"/>
          </a:solidFill>
          <a:ln/>
          <a:effectLst>
            <a:outerShdw blurRad="76200" dist="25400" dir="16200000" algn="bl" rotWithShape="0">
              <a:srgbClr val="C0C0C0">
                <a:alpha val="25000"/>
              </a:srgbClr>
            </a:outerShdw>
          </a:effectLst>
        </p:spPr>
        <p:txBody>
          <a:bodyPr/>
          <a:lstStyle/>
          <a:p>
            <a:endParaRPr lang="en-US" sz="2400"/>
          </a:p>
        </p:txBody>
      </p:sp>
      <p:sp>
        <p:nvSpPr>
          <p:cNvPr id="7" name="Shape 4"/>
          <p:cNvSpPr/>
          <p:nvPr/>
        </p:nvSpPr>
        <p:spPr>
          <a:xfrm>
            <a:off x="731520" y="2011680"/>
            <a:ext cx="3413760" cy="85344"/>
          </a:xfrm>
          <a:prstGeom prst="rect">
            <a:avLst/>
          </a:prstGeom>
          <a:solidFill>
            <a:srgbClr val="088395"/>
          </a:solidFill>
          <a:ln/>
        </p:spPr>
        <p:txBody>
          <a:bodyPr/>
          <a:lstStyle/>
          <a:p>
            <a:endParaRPr lang="en-US" sz="2400"/>
          </a:p>
        </p:txBody>
      </p:sp>
      <p:sp>
        <p:nvSpPr>
          <p:cNvPr id="8" name="Shape 5"/>
          <p:cNvSpPr/>
          <p:nvPr/>
        </p:nvSpPr>
        <p:spPr>
          <a:xfrm>
            <a:off x="2072640" y="2255520"/>
            <a:ext cx="731520" cy="731520"/>
          </a:xfrm>
          <a:prstGeom prst="ellipse">
            <a:avLst/>
          </a:prstGeom>
          <a:solidFill>
            <a:srgbClr val="D1EDE8"/>
          </a:solidFill>
          <a:ln/>
        </p:spPr>
        <p:txBody>
          <a:bodyPr/>
          <a:lstStyle/>
          <a:p>
            <a:endParaRPr lang="en-US" sz="2400"/>
          </a:p>
        </p:txBody>
      </p:sp>
      <p:pic>
        <p:nvPicPr>
          <p:cNvPr id="9" name="Image 1" descr="preencoded.png"/>
          <p:cNvPicPr>
            <a:picLocks noChangeAspect="1"/>
          </p:cNvPicPr>
          <p:nvPr/>
        </p:nvPicPr>
        <p:blipFill>
          <a:blip r:embed="rId4"/>
          <a:stretch>
            <a:fillRect/>
          </a:stretch>
        </p:blipFill>
        <p:spPr>
          <a:xfrm>
            <a:off x="2194560" y="2377440"/>
            <a:ext cx="487680" cy="487680"/>
          </a:xfrm>
          <a:prstGeom prst="rect">
            <a:avLst/>
          </a:prstGeom>
        </p:spPr>
      </p:pic>
      <p:sp>
        <p:nvSpPr>
          <p:cNvPr id="10" name="Text 6"/>
          <p:cNvSpPr/>
          <p:nvPr/>
        </p:nvSpPr>
        <p:spPr>
          <a:xfrm>
            <a:off x="914400" y="3108960"/>
            <a:ext cx="3048000" cy="390144"/>
          </a:xfrm>
          <a:prstGeom prst="rect">
            <a:avLst/>
          </a:prstGeom>
          <a:noFill/>
          <a:ln/>
        </p:spPr>
        <p:txBody>
          <a:bodyPr wrap="square" lIns="0" tIns="0" rIns="0" bIns="0" rtlCol="0" anchor="ctr"/>
          <a:lstStyle/>
          <a:p>
            <a:pPr algn="ctr"/>
            <a:r>
              <a:rPr lang="en-US" sz="1867" b="1" dirty="0">
                <a:solidFill>
                  <a:srgbClr val="1A2B34"/>
                </a:solidFill>
                <a:latin typeface="Georgia" pitchFamily="34" charset="0"/>
                <a:ea typeface="Georgia" pitchFamily="34" charset="-122"/>
                <a:cs typeface="Georgia" pitchFamily="34" charset="-120"/>
              </a:rPr>
              <a:t>Latent Factor Models</a:t>
            </a:r>
            <a:endParaRPr lang="en-US" sz="1867" dirty="0"/>
          </a:p>
        </p:txBody>
      </p:sp>
      <p:sp>
        <p:nvSpPr>
          <p:cNvPr id="11" name="Text 7"/>
          <p:cNvSpPr/>
          <p:nvPr/>
        </p:nvSpPr>
        <p:spPr>
          <a:xfrm>
            <a:off x="914400" y="3474720"/>
            <a:ext cx="3048000" cy="304800"/>
          </a:xfrm>
          <a:prstGeom prst="rect">
            <a:avLst/>
          </a:prstGeom>
          <a:noFill/>
          <a:ln/>
        </p:spPr>
        <p:txBody>
          <a:bodyPr wrap="square" lIns="0" tIns="0" rIns="0" bIns="0" rtlCol="0" anchor="ctr"/>
          <a:lstStyle/>
          <a:p>
            <a:pPr algn="ctr"/>
            <a:r>
              <a:rPr lang="en-US" sz="1333" i="1" dirty="0">
                <a:solidFill>
                  <a:srgbClr val="088395"/>
                </a:solidFill>
                <a:latin typeface="Calibri" pitchFamily="34" charset="0"/>
                <a:ea typeface="Calibri" pitchFamily="34" charset="-122"/>
                <a:cs typeface="Calibri" pitchFamily="34" charset="-120"/>
              </a:rPr>
              <a:t>Joint dimensionality reduction</a:t>
            </a:r>
            <a:endParaRPr lang="en-US" sz="1333" dirty="0"/>
          </a:p>
        </p:txBody>
      </p:sp>
      <p:sp>
        <p:nvSpPr>
          <p:cNvPr id="12" name="Shape 8"/>
          <p:cNvSpPr/>
          <p:nvPr/>
        </p:nvSpPr>
        <p:spPr>
          <a:xfrm>
            <a:off x="1036320" y="3901440"/>
            <a:ext cx="2804160" cy="365760"/>
          </a:xfrm>
          <a:prstGeom prst="rect">
            <a:avLst/>
          </a:prstGeom>
          <a:solidFill>
            <a:srgbClr val="D1EDE8"/>
          </a:solidFill>
          <a:ln/>
        </p:spPr>
        <p:txBody>
          <a:bodyPr/>
          <a:lstStyle/>
          <a:p>
            <a:endParaRPr lang="en-US" sz="2400"/>
          </a:p>
        </p:txBody>
      </p:sp>
      <p:sp>
        <p:nvSpPr>
          <p:cNvPr id="13" name="Text 9"/>
          <p:cNvSpPr/>
          <p:nvPr/>
        </p:nvSpPr>
        <p:spPr>
          <a:xfrm>
            <a:off x="1036320" y="3901440"/>
            <a:ext cx="2804160" cy="365760"/>
          </a:xfrm>
          <a:prstGeom prst="rect">
            <a:avLst/>
          </a:prstGeom>
          <a:noFill/>
          <a:ln/>
        </p:spPr>
        <p:txBody>
          <a:bodyPr wrap="square" lIns="0" tIns="0" rIns="0" bIns="0" rtlCol="0" anchor="ctr"/>
          <a:lstStyle/>
          <a:p>
            <a:pPr algn="ctr"/>
            <a:r>
              <a:rPr lang="en-US" sz="1200" b="1" dirty="0">
                <a:solidFill>
                  <a:srgbClr val="088395"/>
                </a:solidFill>
                <a:latin typeface="Calibri" pitchFamily="34" charset="0"/>
                <a:ea typeface="Calibri" pitchFamily="34" charset="-122"/>
                <a:cs typeface="Calibri" pitchFamily="34" charset="-120"/>
              </a:rPr>
              <a:t>MOFA2 · iCluster+ · DIABLO</a:t>
            </a:r>
            <a:endParaRPr lang="en-US" sz="1200" dirty="0"/>
          </a:p>
        </p:txBody>
      </p:sp>
      <p:sp>
        <p:nvSpPr>
          <p:cNvPr id="14" name="Text 10"/>
          <p:cNvSpPr/>
          <p:nvPr/>
        </p:nvSpPr>
        <p:spPr>
          <a:xfrm>
            <a:off x="975360" y="4389120"/>
            <a:ext cx="2926080" cy="1219200"/>
          </a:xfrm>
          <a:prstGeom prst="rect">
            <a:avLst/>
          </a:prstGeom>
          <a:noFill/>
          <a:ln/>
        </p:spPr>
        <p:txBody>
          <a:bodyPr wrap="square" lIns="0" tIns="0" rIns="0" bIns="0" rtlCol="0" anchor="ctr"/>
          <a:lstStyle/>
          <a:p>
            <a:r>
              <a:rPr lang="en-US" sz="1267" dirty="0">
                <a:solidFill>
                  <a:srgbClr val="4A6670"/>
                </a:solidFill>
                <a:latin typeface="Calibri" pitchFamily="34" charset="0"/>
                <a:ea typeface="Calibri" pitchFamily="34" charset="-122"/>
                <a:cs typeface="Calibri" pitchFamily="34" charset="-120"/>
              </a:rPr>
              <a:t>Decompose multiple omics into shared latent factors that capture coordinated variation across layers. Recover signals too weak to survive independent thresholding by borrowing statistical strength across modalities.</a:t>
            </a:r>
            <a:endParaRPr lang="en-US" sz="1267" dirty="0"/>
          </a:p>
        </p:txBody>
      </p:sp>
      <p:pic>
        <p:nvPicPr>
          <p:cNvPr id="15" name="Image 2" descr="preencoded.png"/>
          <p:cNvPicPr>
            <a:picLocks noChangeAspect="1"/>
          </p:cNvPicPr>
          <p:nvPr/>
        </p:nvPicPr>
        <p:blipFill>
          <a:blip r:embed="rId5"/>
          <a:stretch>
            <a:fillRect/>
          </a:stretch>
        </p:blipFill>
        <p:spPr>
          <a:xfrm>
            <a:off x="975360" y="5669280"/>
            <a:ext cx="268224" cy="268224"/>
          </a:xfrm>
          <a:prstGeom prst="rect">
            <a:avLst/>
          </a:prstGeom>
        </p:spPr>
      </p:pic>
      <p:sp>
        <p:nvSpPr>
          <p:cNvPr id="16" name="Text 11"/>
          <p:cNvSpPr/>
          <p:nvPr/>
        </p:nvSpPr>
        <p:spPr>
          <a:xfrm>
            <a:off x="1316736" y="5644896"/>
            <a:ext cx="2560320" cy="365760"/>
          </a:xfrm>
          <a:prstGeom prst="rect">
            <a:avLst/>
          </a:prstGeom>
          <a:noFill/>
          <a:ln/>
        </p:spPr>
        <p:txBody>
          <a:bodyPr wrap="square" lIns="0" tIns="0" rIns="0" bIns="0" rtlCol="0" anchor="ctr"/>
          <a:lstStyle/>
          <a:p>
            <a:r>
              <a:rPr lang="en-US" sz="1333" b="1" dirty="0">
                <a:solidFill>
                  <a:srgbClr val="10B9A0"/>
                </a:solidFill>
                <a:latin typeface="Calibri" pitchFamily="34" charset="0"/>
                <a:ea typeface="Calibri" pitchFamily="34" charset="-122"/>
                <a:cs typeface="Calibri" pitchFamily="34" charset="-120"/>
              </a:rPr>
              <a:t>Detects coordinated moderate effects</a:t>
            </a:r>
            <a:endParaRPr lang="en-US" sz="1333" dirty="0"/>
          </a:p>
        </p:txBody>
      </p:sp>
      <p:sp>
        <p:nvSpPr>
          <p:cNvPr id="17" name="Shape 12"/>
          <p:cNvSpPr/>
          <p:nvPr/>
        </p:nvSpPr>
        <p:spPr>
          <a:xfrm>
            <a:off x="4572000" y="2011680"/>
            <a:ext cx="3413760" cy="4267200"/>
          </a:xfrm>
          <a:prstGeom prst="rect">
            <a:avLst/>
          </a:prstGeom>
          <a:solidFill>
            <a:srgbClr val="FFFFFF"/>
          </a:solidFill>
          <a:ln/>
          <a:effectLst>
            <a:outerShdw blurRad="76200" dist="25400" dir="16200000" algn="bl" rotWithShape="0">
              <a:srgbClr val="C0C0C0">
                <a:alpha val="25000"/>
              </a:srgbClr>
            </a:outerShdw>
          </a:effectLst>
        </p:spPr>
        <p:txBody>
          <a:bodyPr/>
          <a:lstStyle/>
          <a:p>
            <a:endParaRPr lang="en-US" sz="2400"/>
          </a:p>
        </p:txBody>
      </p:sp>
      <p:sp>
        <p:nvSpPr>
          <p:cNvPr id="18" name="Shape 13"/>
          <p:cNvSpPr/>
          <p:nvPr/>
        </p:nvSpPr>
        <p:spPr>
          <a:xfrm>
            <a:off x="4572000" y="2011680"/>
            <a:ext cx="3413760" cy="85344"/>
          </a:xfrm>
          <a:prstGeom prst="rect">
            <a:avLst/>
          </a:prstGeom>
          <a:solidFill>
            <a:srgbClr val="10B9A0"/>
          </a:solidFill>
          <a:ln/>
        </p:spPr>
        <p:txBody>
          <a:bodyPr/>
          <a:lstStyle/>
          <a:p>
            <a:endParaRPr lang="en-US" sz="2400"/>
          </a:p>
        </p:txBody>
      </p:sp>
      <p:sp>
        <p:nvSpPr>
          <p:cNvPr id="19" name="Shape 14"/>
          <p:cNvSpPr/>
          <p:nvPr/>
        </p:nvSpPr>
        <p:spPr>
          <a:xfrm>
            <a:off x="5913120" y="2255520"/>
            <a:ext cx="731520" cy="731520"/>
          </a:xfrm>
          <a:prstGeom prst="ellipse">
            <a:avLst/>
          </a:prstGeom>
          <a:solidFill>
            <a:srgbClr val="D1EDE8"/>
          </a:solidFill>
          <a:ln/>
        </p:spPr>
        <p:txBody>
          <a:bodyPr/>
          <a:lstStyle/>
          <a:p>
            <a:endParaRPr lang="en-US" sz="2400"/>
          </a:p>
        </p:txBody>
      </p:sp>
      <p:pic>
        <p:nvPicPr>
          <p:cNvPr id="20" name="Image 3" descr="preencoded.png"/>
          <p:cNvPicPr>
            <a:picLocks noChangeAspect="1"/>
          </p:cNvPicPr>
          <p:nvPr/>
        </p:nvPicPr>
        <p:blipFill>
          <a:blip r:embed="rId6"/>
          <a:stretch>
            <a:fillRect/>
          </a:stretch>
        </p:blipFill>
        <p:spPr>
          <a:xfrm>
            <a:off x="6035040" y="2377440"/>
            <a:ext cx="487680" cy="487680"/>
          </a:xfrm>
          <a:prstGeom prst="rect">
            <a:avLst/>
          </a:prstGeom>
        </p:spPr>
      </p:pic>
      <p:sp>
        <p:nvSpPr>
          <p:cNvPr id="21" name="Text 15"/>
          <p:cNvSpPr/>
          <p:nvPr/>
        </p:nvSpPr>
        <p:spPr>
          <a:xfrm>
            <a:off x="4754880" y="3108960"/>
            <a:ext cx="3048000" cy="390144"/>
          </a:xfrm>
          <a:prstGeom prst="rect">
            <a:avLst/>
          </a:prstGeom>
          <a:noFill/>
          <a:ln/>
        </p:spPr>
        <p:txBody>
          <a:bodyPr wrap="square" lIns="0" tIns="0" rIns="0" bIns="0" rtlCol="0" anchor="ctr"/>
          <a:lstStyle/>
          <a:p>
            <a:pPr algn="ctr"/>
            <a:r>
              <a:rPr lang="en-US" sz="1867" b="1" dirty="0">
                <a:solidFill>
                  <a:srgbClr val="1A2B34"/>
                </a:solidFill>
                <a:latin typeface="Georgia" pitchFamily="34" charset="0"/>
                <a:ea typeface="Georgia" pitchFamily="34" charset="-122"/>
                <a:cs typeface="Georgia" pitchFamily="34" charset="-120"/>
              </a:rPr>
              <a:t>Regulatory Network Inference</a:t>
            </a:r>
            <a:endParaRPr lang="en-US" sz="1867" dirty="0"/>
          </a:p>
        </p:txBody>
      </p:sp>
      <p:sp>
        <p:nvSpPr>
          <p:cNvPr id="22" name="Text 16"/>
          <p:cNvSpPr/>
          <p:nvPr/>
        </p:nvSpPr>
        <p:spPr>
          <a:xfrm>
            <a:off x="4754880" y="3474720"/>
            <a:ext cx="3048000" cy="304800"/>
          </a:xfrm>
          <a:prstGeom prst="rect">
            <a:avLst/>
          </a:prstGeom>
          <a:noFill/>
          <a:ln/>
        </p:spPr>
        <p:txBody>
          <a:bodyPr wrap="square" lIns="0" tIns="0" rIns="0" bIns="0" rtlCol="0" anchor="ctr"/>
          <a:lstStyle/>
          <a:p>
            <a:pPr algn="ctr"/>
            <a:r>
              <a:rPr lang="en-US" sz="1333" i="1" dirty="0">
                <a:solidFill>
                  <a:srgbClr val="10B9A0"/>
                </a:solidFill>
                <a:latin typeface="Calibri" pitchFamily="34" charset="0"/>
                <a:ea typeface="Calibri" pitchFamily="34" charset="-122"/>
                <a:cs typeface="Calibri" pitchFamily="34" charset="-120"/>
              </a:rPr>
              <a:t>Knowledge-guided causal models</a:t>
            </a:r>
            <a:endParaRPr lang="en-US" sz="1333" dirty="0"/>
          </a:p>
        </p:txBody>
      </p:sp>
      <p:sp>
        <p:nvSpPr>
          <p:cNvPr id="23" name="Shape 17"/>
          <p:cNvSpPr/>
          <p:nvPr/>
        </p:nvSpPr>
        <p:spPr>
          <a:xfrm>
            <a:off x="4876800" y="3901440"/>
            <a:ext cx="2804160" cy="365760"/>
          </a:xfrm>
          <a:prstGeom prst="rect">
            <a:avLst/>
          </a:prstGeom>
          <a:solidFill>
            <a:srgbClr val="D1EDE8"/>
          </a:solidFill>
          <a:ln/>
        </p:spPr>
        <p:txBody>
          <a:bodyPr/>
          <a:lstStyle/>
          <a:p>
            <a:endParaRPr lang="en-US" sz="2400"/>
          </a:p>
        </p:txBody>
      </p:sp>
      <p:sp>
        <p:nvSpPr>
          <p:cNvPr id="24" name="Text 18"/>
          <p:cNvSpPr/>
          <p:nvPr/>
        </p:nvSpPr>
        <p:spPr>
          <a:xfrm>
            <a:off x="4876800" y="3901440"/>
            <a:ext cx="2804160" cy="365760"/>
          </a:xfrm>
          <a:prstGeom prst="rect">
            <a:avLst/>
          </a:prstGeom>
          <a:noFill/>
          <a:ln/>
        </p:spPr>
        <p:txBody>
          <a:bodyPr wrap="square" lIns="0" tIns="0" rIns="0" bIns="0" rtlCol="0" anchor="ctr"/>
          <a:lstStyle/>
          <a:p>
            <a:pPr algn="ctr"/>
            <a:r>
              <a:rPr lang="en-US" sz="1200" b="1" dirty="0">
                <a:solidFill>
                  <a:srgbClr val="088395"/>
                </a:solidFill>
                <a:latin typeface="Calibri" pitchFamily="34" charset="0"/>
                <a:ea typeface="Calibri" pitchFamily="34" charset="-122"/>
                <a:cs typeface="Calibri" pitchFamily="34" charset="-120"/>
              </a:rPr>
              <a:t>COSMOS · SCENIC+ · LINGER</a:t>
            </a:r>
            <a:endParaRPr lang="en-US" sz="1200" dirty="0"/>
          </a:p>
        </p:txBody>
      </p:sp>
      <p:sp>
        <p:nvSpPr>
          <p:cNvPr id="25" name="Text 19"/>
          <p:cNvSpPr/>
          <p:nvPr/>
        </p:nvSpPr>
        <p:spPr>
          <a:xfrm>
            <a:off x="4815840" y="4389120"/>
            <a:ext cx="2926080" cy="1219200"/>
          </a:xfrm>
          <a:prstGeom prst="rect">
            <a:avLst/>
          </a:prstGeom>
          <a:noFill/>
          <a:ln/>
        </p:spPr>
        <p:txBody>
          <a:bodyPr wrap="square" lIns="0" tIns="0" rIns="0" bIns="0" rtlCol="0" anchor="ctr"/>
          <a:lstStyle/>
          <a:p>
            <a:r>
              <a:rPr lang="en-US" sz="1267" dirty="0">
                <a:solidFill>
                  <a:srgbClr val="4A6670"/>
                </a:solidFill>
                <a:latin typeface="Calibri" pitchFamily="34" charset="0"/>
                <a:ea typeface="Calibri" pitchFamily="34" charset="-122"/>
                <a:cs typeface="Calibri" pitchFamily="34" charset="-120"/>
              </a:rPr>
              <a:t>Integrate prior knowledge (TF motifs, signaling pathways, metabolic maps) with multiomics measurements to infer directed regulatory relationships. Model how changes propagate from epigenome → transcriptome → proteome → metabolome.</a:t>
            </a:r>
            <a:endParaRPr lang="en-US" sz="1267" dirty="0"/>
          </a:p>
        </p:txBody>
      </p:sp>
      <p:pic>
        <p:nvPicPr>
          <p:cNvPr id="26" name="Image 4" descr="preencoded.png"/>
          <p:cNvPicPr>
            <a:picLocks noChangeAspect="1"/>
          </p:cNvPicPr>
          <p:nvPr/>
        </p:nvPicPr>
        <p:blipFill>
          <a:blip r:embed="rId5"/>
          <a:stretch>
            <a:fillRect/>
          </a:stretch>
        </p:blipFill>
        <p:spPr>
          <a:xfrm>
            <a:off x="4815840" y="5669280"/>
            <a:ext cx="268224" cy="268224"/>
          </a:xfrm>
          <a:prstGeom prst="rect">
            <a:avLst/>
          </a:prstGeom>
        </p:spPr>
      </p:pic>
      <p:sp>
        <p:nvSpPr>
          <p:cNvPr id="27" name="Text 20"/>
          <p:cNvSpPr/>
          <p:nvPr/>
        </p:nvSpPr>
        <p:spPr>
          <a:xfrm>
            <a:off x="5157216" y="5644896"/>
            <a:ext cx="2560320" cy="365760"/>
          </a:xfrm>
          <a:prstGeom prst="rect">
            <a:avLst/>
          </a:prstGeom>
          <a:noFill/>
          <a:ln/>
        </p:spPr>
        <p:txBody>
          <a:bodyPr wrap="square" lIns="0" tIns="0" rIns="0" bIns="0" rtlCol="0" anchor="ctr"/>
          <a:lstStyle/>
          <a:p>
            <a:r>
              <a:rPr lang="en-US" sz="1333" b="1" dirty="0">
                <a:solidFill>
                  <a:srgbClr val="10B9A0"/>
                </a:solidFill>
                <a:latin typeface="Calibri" pitchFamily="34" charset="0"/>
                <a:ea typeface="Calibri" pitchFamily="34" charset="-122"/>
                <a:cs typeface="Calibri" pitchFamily="34" charset="-120"/>
              </a:rPr>
              <a:t>Models cross-layer causal mechanisms</a:t>
            </a:r>
            <a:endParaRPr lang="en-US" sz="1333" dirty="0"/>
          </a:p>
        </p:txBody>
      </p:sp>
      <p:sp>
        <p:nvSpPr>
          <p:cNvPr id="28" name="Shape 21"/>
          <p:cNvSpPr/>
          <p:nvPr/>
        </p:nvSpPr>
        <p:spPr>
          <a:xfrm>
            <a:off x="8412480" y="2011680"/>
            <a:ext cx="3413760" cy="4267200"/>
          </a:xfrm>
          <a:prstGeom prst="rect">
            <a:avLst/>
          </a:prstGeom>
          <a:solidFill>
            <a:srgbClr val="FFFFFF"/>
          </a:solidFill>
          <a:ln/>
          <a:effectLst>
            <a:outerShdw blurRad="76200" dist="25400" dir="16200000" algn="bl" rotWithShape="0">
              <a:srgbClr val="C0C0C0">
                <a:alpha val="25000"/>
              </a:srgbClr>
            </a:outerShdw>
          </a:effectLst>
        </p:spPr>
        <p:txBody>
          <a:bodyPr/>
          <a:lstStyle/>
          <a:p>
            <a:endParaRPr lang="en-US" sz="2400"/>
          </a:p>
        </p:txBody>
      </p:sp>
      <p:sp>
        <p:nvSpPr>
          <p:cNvPr id="29" name="Shape 22"/>
          <p:cNvSpPr/>
          <p:nvPr/>
        </p:nvSpPr>
        <p:spPr>
          <a:xfrm>
            <a:off x="8412480" y="2011680"/>
            <a:ext cx="3413760" cy="85344"/>
          </a:xfrm>
          <a:prstGeom prst="rect">
            <a:avLst/>
          </a:prstGeom>
          <a:solidFill>
            <a:srgbClr val="58E0C3"/>
          </a:solidFill>
          <a:ln/>
        </p:spPr>
        <p:txBody>
          <a:bodyPr/>
          <a:lstStyle/>
          <a:p>
            <a:endParaRPr lang="en-US" sz="2400"/>
          </a:p>
        </p:txBody>
      </p:sp>
      <p:sp>
        <p:nvSpPr>
          <p:cNvPr id="30" name="Shape 23"/>
          <p:cNvSpPr/>
          <p:nvPr/>
        </p:nvSpPr>
        <p:spPr>
          <a:xfrm>
            <a:off x="9753600" y="2255520"/>
            <a:ext cx="731520" cy="731520"/>
          </a:xfrm>
          <a:prstGeom prst="ellipse">
            <a:avLst/>
          </a:prstGeom>
          <a:solidFill>
            <a:srgbClr val="D1EDE8"/>
          </a:solidFill>
          <a:ln/>
        </p:spPr>
        <p:txBody>
          <a:bodyPr/>
          <a:lstStyle/>
          <a:p>
            <a:endParaRPr lang="en-US" sz="2400"/>
          </a:p>
        </p:txBody>
      </p:sp>
      <p:pic>
        <p:nvPicPr>
          <p:cNvPr id="31" name="Image 5" descr="preencoded.png"/>
          <p:cNvPicPr>
            <a:picLocks noChangeAspect="1"/>
          </p:cNvPicPr>
          <p:nvPr/>
        </p:nvPicPr>
        <p:blipFill>
          <a:blip r:embed="rId7"/>
          <a:stretch>
            <a:fillRect/>
          </a:stretch>
        </p:blipFill>
        <p:spPr>
          <a:xfrm>
            <a:off x="9875520" y="2377440"/>
            <a:ext cx="487680" cy="487680"/>
          </a:xfrm>
          <a:prstGeom prst="rect">
            <a:avLst/>
          </a:prstGeom>
        </p:spPr>
      </p:pic>
      <p:sp>
        <p:nvSpPr>
          <p:cNvPr id="32" name="Text 24"/>
          <p:cNvSpPr/>
          <p:nvPr/>
        </p:nvSpPr>
        <p:spPr>
          <a:xfrm>
            <a:off x="8595360" y="3108960"/>
            <a:ext cx="3048000" cy="390144"/>
          </a:xfrm>
          <a:prstGeom prst="rect">
            <a:avLst/>
          </a:prstGeom>
          <a:noFill/>
          <a:ln/>
        </p:spPr>
        <p:txBody>
          <a:bodyPr wrap="square" lIns="0" tIns="0" rIns="0" bIns="0" rtlCol="0" anchor="ctr"/>
          <a:lstStyle/>
          <a:p>
            <a:pPr algn="ctr"/>
            <a:r>
              <a:rPr lang="en-US" sz="1867" b="1" dirty="0">
                <a:solidFill>
                  <a:srgbClr val="1A2B34"/>
                </a:solidFill>
                <a:latin typeface="Georgia" pitchFamily="34" charset="0"/>
                <a:ea typeface="Georgia" pitchFamily="34" charset="-122"/>
                <a:cs typeface="Georgia" pitchFamily="34" charset="-120"/>
              </a:rPr>
              <a:t>Deep Learning Fusion</a:t>
            </a:r>
            <a:endParaRPr lang="en-US" sz="1867" dirty="0"/>
          </a:p>
        </p:txBody>
      </p:sp>
      <p:sp>
        <p:nvSpPr>
          <p:cNvPr id="33" name="Text 25"/>
          <p:cNvSpPr/>
          <p:nvPr/>
        </p:nvSpPr>
        <p:spPr>
          <a:xfrm>
            <a:off x="8595360" y="3474720"/>
            <a:ext cx="3048000" cy="304800"/>
          </a:xfrm>
          <a:prstGeom prst="rect">
            <a:avLst/>
          </a:prstGeom>
          <a:noFill/>
          <a:ln/>
        </p:spPr>
        <p:txBody>
          <a:bodyPr wrap="square" lIns="0" tIns="0" rIns="0" bIns="0" rtlCol="0" anchor="ctr"/>
          <a:lstStyle/>
          <a:p>
            <a:pPr algn="ctr"/>
            <a:r>
              <a:rPr lang="en-US" sz="1333" i="1" dirty="0">
                <a:solidFill>
                  <a:srgbClr val="58E0C3"/>
                </a:solidFill>
                <a:latin typeface="Calibri" pitchFamily="34" charset="0"/>
                <a:ea typeface="Calibri" pitchFamily="34" charset="-122"/>
                <a:cs typeface="Calibri" pitchFamily="34" charset="-120"/>
              </a:rPr>
              <a:t>Attention-based cross-modal learning</a:t>
            </a:r>
            <a:endParaRPr lang="en-US" sz="1333" dirty="0"/>
          </a:p>
        </p:txBody>
      </p:sp>
      <p:sp>
        <p:nvSpPr>
          <p:cNvPr id="34" name="Shape 26"/>
          <p:cNvSpPr/>
          <p:nvPr/>
        </p:nvSpPr>
        <p:spPr>
          <a:xfrm>
            <a:off x="8717280" y="3901440"/>
            <a:ext cx="2804160" cy="365760"/>
          </a:xfrm>
          <a:prstGeom prst="rect">
            <a:avLst/>
          </a:prstGeom>
          <a:solidFill>
            <a:srgbClr val="D1EDE8"/>
          </a:solidFill>
          <a:ln/>
        </p:spPr>
        <p:txBody>
          <a:bodyPr/>
          <a:lstStyle/>
          <a:p>
            <a:endParaRPr lang="en-US" sz="2400"/>
          </a:p>
        </p:txBody>
      </p:sp>
      <p:sp>
        <p:nvSpPr>
          <p:cNvPr id="35" name="Text 27"/>
          <p:cNvSpPr/>
          <p:nvPr/>
        </p:nvSpPr>
        <p:spPr>
          <a:xfrm>
            <a:off x="8717280" y="3901440"/>
            <a:ext cx="2804160" cy="365760"/>
          </a:xfrm>
          <a:prstGeom prst="rect">
            <a:avLst/>
          </a:prstGeom>
          <a:noFill/>
          <a:ln/>
        </p:spPr>
        <p:txBody>
          <a:bodyPr wrap="square" lIns="0" tIns="0" rIns="0" bIns="0" rtlCol="0" anchor="ctr"/>
          <a:lstStyle/>
          <a:p>
            <a:pPr algn="ctr"/>
            <a:r>
              <a:rPr lang="en-US" sz="1200" b="1" dirty="0">
                <a:solidFill>
                  <a:srgbClr val="088395"/>
                </a:solidFill>
                <a:latin typeface="Calibri" pitchFamily="34" charset="0"/>
                <a:ea typeface="Calibri" pitchFamily="34" charset="-122"/>
                <a:cs typeface="Calibri" pitchFamily="34" charset="-120"/>
              </a:rPr>
              <a:t>CrossAttOmics · MultiGATE · scGLUE</a:t>
            </a:r>
            <a:endParaRPr lang="en-US" sz="1200" dirty="0"/>
          </a:p>
        </p:txBody>
      </p:sp>
      <p:sp>
        <p:nvSpPr>
          <p:cNvPr id="36" name="Text 28"/>
          <p:cNvSpPr/>
          <p:nvPr/>
        </p:nvSpPr>
        <p:spPr>
          <a:xfrm>
            <a:off x="8656320" y="4389120"/>
            <a:ext cx="2926080" cy="1219200"/>
          </a:xfrm>
          <a:prstGeom prst="rect">
            <a:avLst/>
          </a:prstGeom>
          <a:noFill/>
          <a:ln/>
        </p:spPr>
        <p:txBody>
          <a:bodyPr wrap="square" lIns="0" tIns="0" rIns="0" bIns="0" rtlCol="0" anchor="ctr"/>
          <a:lstStyle/>
          <a:p>
            <a:r>
              <a:rPr lang="en-US" sz="1267" dirty="0">
                <a:solidFill>
                  <a:srgbClr val="4A6670"/>
                </a:solidFill>
                <a:latin typeface="Calibri" pitchFamily="34" charset="0"/>
                <a:ea typeface="Calibri" pitchFamily="34" charset="-122"/>
                <a:cs typeface="Calibri" pitchFamily="34" charset="-120"/>
              </a:rPr>
              <a:t>Use cross-attention mechanisms and graph neural networks to learn nonlinear dependencies between heterogeneous omics features. Handle mismatched dimensionalities, batch effects, and both paired and unpaired experimental designs.</a:t>
            </a:r>
            <a:endParaRPr lang="en-US" sz="1267" dirty="0"/>
          </a:p>
        </p:txBody>
      </p:sp>
      <p:pic>
        <p:nvPicPr>
          <p:cNvPr id="37" name="Image 6" descr="preencoded.png"/>
          <p:cNvPicPr>
            <a:picLocks noChangeAspect="1"/>
          </p:cNvPicPr>
          <p:nvPr/>
        </p:nvPicPr>
        <p:blipFill>
          <a:blip r:embed="rId5"/>
          <a:stretch>
            <a:fillRect/>
          </a:stretch>
        </p:blipFill>
        <p:spPr>
          <a:xfrm>
            <a:off x="8656320" y="5669280"/>
            <a:ext cx="268224" cy="268224"/>
          </a:xfrm>
          <a:prstGeom prst="rect">
            <a:avLst/>
          </a:prstGeom>
        </p:spPr>
      </p:pic>
      <p:sp>
        <p:nvSpPr>
          <p:cNvPr id="38" name="Text 29"/>
          <p:cNvSpPr/>
          <p:nvPr/>
        </p:nvSpPr>
        <p:spPr>
          <a:xfrm>
            <a:off x="8997696" y="5644896"/>
            <a:ext cx="2560320" cy="365760"/>
          </a:xfrm>
          <a:prstGeom prst="rect">
            <a:avLst/>
          </a:prstGeom>
          <a:noFill/>
          <a:ln/>
        </p:spPr>
        <p:txBody>
          <a:bodyPr wrap="square" lIns="0" tIns="0" rIns="0" bIns="0" rtlCol="0" anchor="ctr"/>
          <a:lstStyle/>
          <a:p>
            <a:r>
              <a:rPr lang="en-US" sz="1333" b="1" dirty="0">
                <a:solidFill>
                  <a:srgbClr val="10B9A0"/>
                </a:solidFill>
                <a:latin typeface="Calibri" pitchFamily="34" charset="0"/>
                <a:ea typeface="Calibri" pitchFamily="34" charset="-122"/>
                <a:cs typeface="Calibri" pitchFamily="34" charset="-120"/>
              </a:rPr>
              <a:t>Handles heterogeneity natively</a:t>
            </a:r>
            <a:endParaRPr lang="en-US" sz="1333" dirty="0"/>
          </a:p>
        </p:txBody>
      </p:sp>
      <p:sp>
        <p:nvSpPr>
          <p:cNvPr id="39" name="Shape 30"/>
          <p:cNvSpPr/>
          <p:nvPr/>
        </p:nvSpPr>
        <p:spPr>
          <a:xfrm>
            <a:off x="731520" y="6400800"/>
            <a:ext cx="10728960" cy="12192"/>
          </a:xfrm>
          <a:prstGeom prst="rect">
            <a:avLst/>
          </a:prstGeom>
          <a:solidFill>
            <a:srgbClr val="088395">
              <a:alpha val="40000"/>
            </a:srgbClr>
          </a:solidFill>
          <a:ln/>
        </p:spPr>
        <p:txBody>
          <a:bodyPr/>
          <a:lstStyle/>
          <a:p>
            <a:endParaRPr lang="en-US" sz="2400"/>
          </a:p>
        </p:txBody>
      </p:sp>
      <p:sp>
        <p:nvSpPr>
          <p:cNvPr id="40" name="Text 31"/>
          <p:cNvSpPr/>
          <p:nvPr/>
        </p:nvSpPr>
        <p:spPr>
          <a:xfrm>
            <a:off x="731520" y="6437376"/>
            <a:ext cx="10728960" cy="365760"/>
          </a:xfrm>
          <a:prstGeom prst="rect">
            <a:avLst/>
          </a:prstGeom>
          <a:noFill/>
          <a:ln/>
        </p:spPr>
        <p:txBody>
          <a:bodyPr wrap="square" rtlCol="0" anchor="ctr"/>
          <a:lstStyle/>
          <a:p>
            <a:r>
              <a:rPr lang="en-US" sz="1267" i="1" dirty="0">
                <a:solidFill>
                  <a:srgbClr val="1A2B34"/>
                </a:solidFill>
                <a:latin typeface="Calibri" pitchFamily="34" charset="0"/>
                <a:ea typeface="Calibri" pitchFamily="34" charset="-122"/>
                <a:cs typeface="Calibri" pitchFamily="34" charset="-120"/>
              </a:rPr>
              <a:t>Key advantage: Integrative methods recover biology invisible to overlap-based approaches by jointly modeling cross-layer dependencies.</a:t>
            </a:r>
            <a:endParaRPr lang="en-US" sz="126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317CE-BDDD-B24E-0EB0-4AF62A055409}"/>
            </a:ext>
          </a:extLst>
        </p:cNvPr>
        <p:cNvGrpSpPr/>
        <p:nvPr/>
      </p:nvGrpSpPr>
      <p:grpSpPr>
        <a:xfrm>
          <a:off x="0" y="0"/>
          <a:ext cx="0" cy="0"/>
          <a:chOff x="0" y="0"/>
          <a:chExt cx="0" cy="0"/>
        </a:xfrm>
      </p:grpSpPr>
    </p:spTree>
    <p:extLst>
      <p:ext uri="{BB962C8B-B14F-4D97-AF65-F5344CB8AC3E}">
        <p14:creationId xmlns:p14="http://schemas.microsoft.com/office/powerpoint/2010/main" val="37178467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828800"/>
          </a:xfrm>
          <a:prstGeom prst="rect">
            <a:avLst/>
          </a:prstGeom>
          <a:solidFill>
            <a:srgbClr val="0B2027"/>
          </a:solidFill>
          <a:ln/>
        </p:spPr>
        <p:txBody>
          <a:bodyPr/>
          <a:lstStyle/>
          <a:p>
            <a:endParaRPr lang="en-US" sz="2400"/>
          </a:p>
        </p:txBody>
      </p:sp>
      <p:pic>
        <p:nvPicPr>
          <p:cNvPr id="3" name="Image 0" descr="preencoded.png"/>
          <p:cNvPicPr>
            <a:picLocks noChangeAspect="1"/>
          </p:cNvPicPr>
          <p:nvPr/>
        </p:nvPicPr>
        <p:blipFill>
          <a:blip r:embed="rId3"/>
          <a:stretch>
            <a:fillRect/>
          </a:stretch>
        </p:blipFill>
        <p:spPr>
          <a:xfrm>
            <a:off x="731520" y="390144"/>
            <a:ext cx="585216" cy="585216"/>
          </a:xfrm>
          <a:prstGeom prst="rect">
            <a:avLst/>
          </a:prstGeom>
        </p:spPr>
      </p:pic>
      <p:sp>
        <p:nvSpPr>
          <p:cNvPr id="4" name="Text 1"/>
          <p:cNvSpPr/>
          <p:nvPr/>
        </p:nvSpPr>
        <p:spPr>
          <a:xfrm>
            <a:off x="1524000" y="219456"/>
            <a:ext cx="9997440" cy="792480"/>
          </a:xfrm>
          <a:prstGeom prst="rect">
            <a:avLst/>
          </a:prstGeom>
          <a:noFill/>
          <a:ln/>
        </p:spPr>
        <p:txBody>
          <a:bodyPr wrap="square" lIns="0" tIns="0" rIns="0" bIns="0" rtlCol="0" anchor="ctr"/>
          <a:lstStyle/>
          <a:p>
            <a:r>
              <a:rPr lang="en-US" sz="3467" b="1" dirty="0">
                <a:solidFill>
                  <a:srgbClr val="FFFFFF"/>
                </a:solidFill>
                <a:latin typeface="Georgia" pitchFamily="34" charset="0"/>
                <a:ea typeface="Georgia" pitchFamily="34" charset="-122"/>
                <a:cs typeface="Georgia" pitchFamily="34" charset="-120"/>
              </a:rPr>
              <a:t>Heterogeneity Across Omics Platforms</a:t>
            </a:r>
            <a:endParaRPr lang="en-US" sz="3467" dirty="0"/>
          </a:p>
        </p:txBody>
      </p:sp>
      <p:sp>
        <p:nvSpPr>
          <p:cNvPr id="5" name="Text 2"/>
          <p:cNvSpPr/>
          <p:nvPr/>
        </p:nvSpPr>
        <p:spPr>
          <a:xfrm>
            <a:off x="1524000" y="950976"/>
            <a:ext cx="9997440" cy="512064"/>
          </a:xfrm>
          <a:prstGeom prst="rect">
            <a:avLst/>
          </a:prstGeom>
          <a:noFill/>
          <a:ln/>
        </p:spPr>
        <p:txBody>
          <a:bodyPr wrap="square" lIns="0" tIns="0" rIns="0" bIns="0" rtlCol="0" anchor="ctr"/>
          <a:lstStyle/>
          <a:p>
            <a:r>
              <a:rPr lang="en-US" sz="1733" i="1" dirty="0">
                <a:solidFill>
                  <a:srgbClr val="58E0C3"/>
                </a:solidFill>
                <a:latin typeface="Calibri" pitchFamily="34" charset="0"/>
                <a:ea typeface="Calibri" pitchFamily="34" charset="-122"/>
                <a:cs typeface="Calibri" pitchFamily="34" charset="-120"/>
              </a:rPr>
              <a:t>Each data type differs in scale, distribution, dimensionality, and temporal resolution</a:t>
            </a:r>
            <a:endParaRPr lang="en-US" sz="1733" dirty="0"/>
          </a:p>
        </p:txBody>
      </p:sp>
      <p:graphicFrame>
        <p:nvGraphicFramePr>
          <p:cNvPr id="6" name="Table 0"/>
          <p:cNvGraphicFramePr>
            <a:graphicFrameLocks noGrp="1"/>
          </p:cNvGraphicFramePr>
          <p:nvPr/>
        </p:nvGraphicFramePr>
        <p:xfrm>
          <a:off x="609600" y="2133600"/>
          <a:ext cx="9997440" cy="4216400"/>
        </p:xfrm>
        <a:graphic>
          <a:graphicData uri="http://schemas.openxmlformats.org/drawingml/2006/table">
            <a:tbl>
              <a:tblPr/>
              <a:tblGrid>
                <a:gridCol w="1584960">
                  <a:extLst>
                    <a:ext uri="{9D8B030D-6E8A-4147-A177-3AD203B41FA5}">
                      <a16:colId xmlns:a16="http://schemas.microsoft.com/office/drawing/2014/main" val="20000"/>
                    </a:ext>
                  </a:extLst>
                </a:gridCol>
                <a:gridCol w="1584960">
                  <a:extLst>
                    <a:ext uri="{9D8B030D-6E8A-4147-A177-3AD203B41FA5}">
                      <a16:colId xmlns:a16="http://schemas.microsoft.com/office/drawing/2014/main" val="20001"/>
                    </a:ext>
                  </a:extLst>
                </a:gridCol>
                <a:gridCol w="1584960">
                  <a:extLst>
                    <a:ext uri="{9D8B030D-6E8A-4147-A177-3AD203B41FA5}">
                      <a16:colId xmlns:a16="http://schemas.microsoft.com/office/drawing/2014/main" val="20002"/>
                    </a:ext>
                  </a:extLst>
                </a:gridCol>
                <a:gridCol w="158496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548640">
                <a:tc>
                  <a:txBody>
                    <a:bodyPr/>
                    <a:lstStyle/>
                    <a:p>
                      <a:pPr marL="0" indent="0" algn="ctr">
                        <a:buNone/>
                      </a:pPr>
                      <a:r>
                        <a:rPr lang="en-US" sz="1500" b="1" dirty="0">
                          <a:solidFill>
                            <a:srgbClr val="FFFFFF"/>
                          </a:solidFill>
                          <a:latin typeface="Georgia" pitchFamily="34" charset="0"/>
                          <a:ea typeface="Georgia" pitchFamily="34" charset="-122"/>
                          <a:cs typeface="Georgia" pitchFamily="34" charset="-120"/>
                        </a:rPr>
                        <a:t>Omics Layer</a:t>
                      </a:r>
                      <a:endParaRPr lang="en-US" sz="1500" dirty="0">
                        <a:latin typeface="Georgia" charset="0"/>
                        <a:ea typeface="Georgia" charset="0"/>
                        <a:cs typeface="Georgia"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088395"/>
                    </a:solidFill>
                  </a:tcPr>
                </a:tc>
                <a:tc>
                  <a:txBody>
                    <a:bodyPr/>
                    <a:lstStyle/>
                    <a:p>
                      <a:pPr marL="0" indent="0" algn="ctr">
                        <a:buNone/>
                      </a:pPr>
                      <a:r>
                        <a:rPr lang="en-US" sz="1500" b="1" dirty="0">
                          <a:solidFill>
                            <a:srgbClr val="FFFFFF"/>
                          </a:solidFill>
                          <a:latin typeface="Georgia" pitchFamily="34" charset="0"/>
                          <a:ea typeface="Georgia" pitchFamily="34" charset="-122"/>
                          <a:cs typeface="Georgia" pitchFamily="34" charset="-120"/>
                        </a:rPr>
                        <a:t>Data Type</a:t>
                      </a:r>
                      <a:endParaRPr lang="en-US" sz="1500" dirty="0">
                        <a:latin typeface="Georgia" charset="0"/>
                        <a:ea typeface="Georgia" charset="0"/>
                        <a:cs typeface="Georgia"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088395"/>
                    </a:solidFill>
                  </a:tcPr>
                </a:tc>
                <a:tc>
                  <a:txBody>
                    <a:bodyPr/>
                    <a:lstStyle/>
                    <a:p>
                      <a:pPr marL="0" indent="0" algn="ctr">
                        <a:buNone/>
                      </a:pPr>
                      <a:r>
                        <a:rPr lang="en-US" sz="1500" b="1" dirty="0">
                          <a:solidFill>
                            <a:srgbClr val="FFFFFF"/>
                          </a:solidFill>
                          <a:latin typeface="Georgia" pitchFamily="34" charset="0"/>
                          <a:ea typeface="Georgia" pitchFamily="34" charset="-122"/>
                          <a:cs typeface="Georgia" pitchFamily="34" charset="-120"/>
                        </a:rPr>
                        <a:t>Features</a:t>
                      </a:r>
                      <a:endParaRPr lang="en-US" sz="1500" dirty="0">
                        <a:latin typeface="Georgia" charset="0"/>
                        <a:ea typeface="Georgia" charset="0"/>
                        <a:cs typeface="Georgia"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088395"/>
                    </a:solidFill>
                  </a:tcPr>
                </a:tc>
                <a:tc>
                  <a:txBody>
                    <a:bodyPr/>
                    <a:lstStyle/>
                    <a:p>
                      <a:pPr marL="0" indent="0" algn="ctr">
                        <a:buNone/>
                      </a:pPr>
                      <a:r>
                        <a:rPr lang="en-US" sz="1500" b="1" dirty="0">
                          <a:solidFill>
                            <a:srgbClr val="FFFFFF"/>
                          </a:solidFill>
                          <a:latin typeface="Georgia" pitchFamily="34" charset="0"/>
                          <a:ea typeface="Georgia" pitchFamily="34" charset="-122"/>
                          <a:cs typeface="Georgia" pitchFamily="34" charset="-120"/>
                        </a:rPr>
                        <a:t>Sparsity</a:t>
                      </a:r>
                      <a:endParaRPr lang="en-US" sz="1500" dirty="0">
                        <a:latin typeface="Georgia" charset="0"/>
                        <a:ea typeface="Georgia" charset="0"/>
                        <a:cs typeface="Georgia" charset="0"/>
                      </a:endParaRPr>
                    </a:p>
                    <a:p>
                      <a:pPr marL="0" indent="0" algn="ctr">
                        <a:buNone/>
                      </a:pPr>
                      <a:r>
                        <a:rPr lang="en-US" sz="1500" b="1" dirty="0">
                          <a:solidFill>
                            <a:srgbClr val="FFFFFF"/>
                          </a:solidFill>
                          <a:latin typeface="Georgia" pitchFamily="34" charset="0"/>
                          <a:ea typeface="Georgia" pitchFamily="34" charset="-122"/>
                          <a:cs typeface="Georgia" pitchFamily="34" charset="-120"/>
                        </a:rPr>
                        <a:t>(single-cell)</a:t>
                      </a:r>
                      <a:endParaRPr lang="en-US" sz="1500" dirty="0">
                        <a:latin typeface="Georgia" charset="0"/>
                        <a:ea typeface="Georgia" charset="0"/>
                        <a:cs typeface="Georgia"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088395"/>
                    </a:solidFill>
                  </a:tcPr>
                </a:tc>
                <a:tc>
                  <a:txBody>
                    <a:bodyPr/>
                    <a:lstStyle/>
                    <a:p>
                      <a:pPr marL="0" indent="0" algn="ctr">
                        <a:buNone/>
                      </a:pPr>
                      <a:r>
                        <a:rPr lang="en-US" sz="1500" b="1" dirty="0">
                          <a:solidFill>
                            <a:srgbClr val="FFFFFF"/>
                          </a:solidFill>
                          <a:latin typeface="Georgia" pitchFamily="34" charset="0"/>
                          <a:ea typeface="Georgia" pitchFamily="34" charset="-122"/>
                          <a:cs typeface="Georgia" pitchFamily="34" charset="-120"/>
                        </a:rPr>
                        <a:t>Temporal</a:t>
                      </a:r>
                      <a:endParaRPr lang="en-US" sz="1500" dirty="0">
                        <a:latin typeface="Georgia" charset="0"/>
                        <a:ea typeface="Georgia" charset="0"/>
                        <a:cs typeface="Georgia" charset="0"/>
                      </a:endParaRPr>
                    </a:p>
                    <a:p>
                      <a:pPr marL="0" indent="0" algn="ctr">
                        <a:buNone/>
                      </a:pPr>
                      <a:r>
                        <a:rPr lang="en-US" sz="1500" b="1" dirty="0">
                          <a:solidFill>
                            <a:srgbClr val="FFFFFF"/>
                          </a:solidFill>
                          <a:latin typeface="Georgia" pitchFamily="34" charset="0"/>
                          <a:ea typeface="Georgia" pitchFamily="34" charset="-122"/>
                          <a:cs typeface="Georgia" pitchFamily="34" charset="-120"/>
                        </a:rPr>
                        <a:t>Window</a:t>
                      </a:r>
                      <a:endParaRPr lang="en-US" sz="1500" dirty="0">
                        <a:latin typeface="Georgia" charset="0"/>
                        <a:ea typeface="Georgia" charset="0"/>
                        <a:cs typeface="Georgia"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088395"/>
                    </a:solidFill>
                  </a:tcPr>
                </a:tc>
                <a:tc>
                  <a:txBody>
                    <a:bodyPr/>
                    <a:lstStyle/>
                    <a:p>
                      <a:pPr marL="0" indent="0" algn="ctr">
                        <a:buNone/>
                      </a:pPr>
                      <a:r>
                        <a:rPr lang="en-US" sz="1500" b="1" dirty="0">
                          <a:solidFill>
                            <a:srgbClr val="FFFFFF"/>
                          </a:solidFill>
                          <a:latin typeface="Georgia" pitchFamily="34" charset="0"/>
                          <a:ea typeface="Georgia" pitchFamily="34" charset="-122"/>
                          <a:cs typeface="Georgia" pitchFamily="34" charset="-120"/>
                        </a:rPr>
                        <a:t>Platform Bias</a:t>
                      </a:r>
                      <a:endParaRPr lang="en-US" sz="1500" dirty="0">
                        <a:latin typeface="Georgia" charset="0"/>
                        <a:ea typeface="Georgia" charset="0"/>
                        <a:cs typeface="Georgia"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088395"/>
                    </a:solidFill>
                  </a:tcPr>
                </a:tc>
                <a:extLst>
                  <a:ext uri="{0D108BD9-81ED-4DB2-BD59-A6C34878D82A}">
                    <a16:rowId xmlns:a16="http://schemas.microsoft.com/office/drawing/2014/main" val="10000"/>
                  </a:ext>
                </a:extLst>
              </a:tr>
              <a:tr h="731520">
                <a:tc>
                  <a:txBody>
                    <a:bodyPr/>
                    <a:lstStyle/>
                    <a:p>
                      <a:pPr marL="0" indent="0" algn="ctr">
                        <a:buNone/>
                      </a:pPr>
                      <a:r>
                        <a:rPr lang="en-US" sz="1300" dirty="0">
                          <a:solidFill>
                            <a:srgbClr val="1A2B34"/>
                          </a:solidFill>
                          <a:latin typeface="Calibri" pitchFamily="34" charset="0"/>
                          <a:ea typeface="Calibri" pitchFamily="34" charset="-122"/>
                          <a:cs typeface="Calibri" pitchFamily="34" charset="-120"/>
                        </a:rPr>
                        <a:t>RNA-seq</a:t>
                      </a:r>
                      <a:endParaRPr lang="en-US" sz="1300" dirty="0">
                        <a:latin typeface="Calibri" charset="0"/>
                        <a:ea typeface="Calibri" charset="0"/>
                        <a:cs typeface="Calibri"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B34"/>
                          </a:solidFill>
                          <a:latin typeface="Calibri" pitchFamily="34" charset="0"/>
                          <a:ea typeface="Calibri" pitchFamily="34" charset="-122"/>
                          <a:cs typeface="Calibri" pitchFamily="34" charset="-120"/>
                        </a:rPr>
                        <a:t>Discrete counts</a:t>
                      </a:r>
                      <a:endParaRPr lang="en-US" sz="1300" dirty="0">
                        <a:latin typeface="Calibri" charset="0"/>
                        <a:ea typeface="Calibri" charset="0"/>
                        <a:cs typeface="Calibri" charset="0"/>
                      </a:endParaRPr>
                    </a:p>
                    <a:p>
                      <a:pPr marL="0" indent="0" algn="ctr">
                        <a:buNone/>
                      </a:pPr>
                      <a:r>
                        <a:rPr lang="en-US" sz="1300" dirty="0">
                          <a:solidFill>
                            <a:srgbClr val="1A2B34"/>
                          </a:solidFill>
                          <a:latin typeface="Calibri" pitchFamily="34" charset="0"/>
                          <a:ea typeface="Calibri" pitchFamily="34" charset="-122"/>
                          <a:cs typeface="Calibri" pitchFamily="34" charset="-120"/>
                        </a:rPr>
                        <a:t>(UMIs)</a:t>
                      </a:r>
                      <a:endParaRPr lang="en-US" sz="1300" dirty="0">
                        <a:latin typeface="Calibri" charset="0"/>
                        <a:ea typeface="Calibri" charset="0"/>
                        <a:cs typeface="Calibri"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B34"/>
                          </a:solidFill>
                          <a:latin typeface="Calibri" pitchFamily="34" charset="0"/>
                          <a:ea typeface="Calibri" pitchFamily="34" charset="-122"/>
                          <a:cs typeface="Calibri" pitchFamily="34" charset="-120"/>
                        </a:rPr>
                        <a:t>~20,000</a:t>
                      </a:r>
                      <a:endParaRPr lang="en-US" sz="1300" dirty="0">
                        <a:latin typeface="Calibri" charset="0"/>
                        <a:ea typeface="Calibri" charset="0"/>
                        <a:cs typeface="Calibri" charset="0"/>
                      </a:endParaRPr>
                    </a:p>
                    <a:p>
                      <a:pPr marL="0" indent="0" algn="ctr">
                        <a:buNone/>
                      </a:pPr>
                      <a:r>
                        <a:rPr lang="en-US" sz="1300" dirty="0">
                          <a:solidFill>
                            <a:srgbClr val="1A2B34"/>
                          </a:solidFill>
                          <a:latin typeface="Calibri" pitchFamily="34" charset="0"/>
                          <a:ea typeface="Calibri" pitchFamily="34" charset="-122"/>
                          <a:cs typeface="Calibri" pitchFamily="34" charset="-120"/>
                        </a:rPr>
                        <a:t>genes</a:t>
                      </a:r>
                      <a:endParaRPr lang="en-US" sz="1300" dirty="0">
                        <a:latin typeface="Calibri" charset="0"/>
                        <a:ea typeface="Calibri" charset="0"/>
                        <a:cs typeface="Calibri"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B34"/>
                          </a:solidFill>
                          <a:latin typeface="Calibri" pitchFamily="34" charset="0"/>
                          <a:ea typeface="Calibri" pitchFamily="34" charset="-122"/>
                          <a:cs typeface="Calibri" pitchFamily="34" charset="-120"/>
                        </a:rPr>
                        <a:t>55–90%</a:t>
                      </a:r>
                      <a:endParaRPr lang="en-US" sz="1300" dirty="0">
                        <a:latin typeface="Calibri" charset="0"/>
                        <a:ea typeface="Calibri" charset="0"/>
                        <a:cs typeface="Calibri" charset="0"/>
                      </a:endParaRPr>
                    </a:p>
                    <a:p>
                      <a:pPr marL="0" indent="0" algn="ctr">
                        <a:buNone/>
                      </a:pPr>
                      <a:r>
                        <a:rPr lang="en-US" sz="1300" dirty="0">
                          <a:solidFill>
                            <a:srgbClr val="1A2B34"/>
                          </a:solidFill>
                          <a:latin typeface="Calibri" pitchFamily="34" charset="0"/>
                          <a:ea typeface="Calibri" pitchFamily="34" charset="-122"/>
                          <a:cs typeface="Calibri" pitchFamily="34" charset="-120"/>
                        </a:rPr>
                        <a:t>dropout</a:t>
                      </a:r>
                      <a:endParaRPr lang="en-US" sz="1300" dirty="0">
                        <a:latin typeface="Calibri" charset="0"/>
                        <a:ea typeface="Calibri" charset="0"/>
                        <a:cs typeface="Calibri"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B34"/>
                          </a:solidFill>
                          <a:latin typeface="Calibri" pitchFamily="34" charset="0"/>
                          <a:ea typeface="Calibri" pitchFamily="34" charset="-122"/>
                          <a:cs typeface="Calibri" pitchFamily="34" charset="-120"/>
                        </a:rPr>
                        <a:t>Minutes–hours</a:t>
                      </a:r>
                      <a:endParaRPr lang="en-US" sz="1300" dirty="0">
                        <a:latin typeface="Calibri" charset="0"/>
                        <a:ea typeface="Calibri" charset="0"/>
                        <a:cs typeface="Calibri" charset="0"/>
                      </a:endParaRPr>
                    </a:p>
                    <a:p>
                      <a:pPr marL="0" indent="0" algn="ctr">
                        <a:buNone/>
                      </a:pPr>
                      <a:r>
                        <a:rPr lang="en-US" sz="1300" dirty="0">
                          <a:solidFill>
                            <a:srgbClr val="1A2B34"/>
                          </a:solidFill>
                          <a:latin typeface="Calibri" pitchFamily="34" charset="0"/>
                          <a:ea typeface="Calibri" pitchFamily="34" charset="-122"/>
                          <a:cs typeface="Calibri" pitchFamily="34" charset="-120"/>
                        </a:rPr>
                        <a:t>(mRNA half-life)</a:t>
                      </a:r>
                      <a:endParaRPr lang="en-US" sz="1300" dirty="0">
                        <a:latin typeface="Calibri" charset="0"/>
                        <a:ea typeface="Calibri" charset="0"/>
                        <a:cs typeface="Calibri"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B34"/>
                          </a:solidFill>
                          <a:latin typeface="Calibri" pitchFamily="34" charset="0"/>
                          <a:ea typeface="Calibri" pitchFamily="34" charset="-122"/>
                          <a:cs typeface="Calibri" pitchFamily="34" charset="-120"/>
                        </a:rPr>
                        <a:t>GC-content bias</a:t>
                      </a:r>
                      <a:endParaRPr lang="en-US" sz="1300" dirty="0">
                        <a:latin typeface="Calibri" charset="0"/>
                        <a:ea typeface="Calibri" charset="0"/>
                        <a:cs typeface="Calibri" charset="0"/>
                      </a:endParaRPr>
                    </a:p>
                    <a:p>
                      <a:pPr marL="0" indent="0" algn="ctr">
                        <a:buNone/>
                      </a:pPr>
                      <a:r>
                        <a:rPr lang="en-US" sz="1300" dirty="0">
                          <a:solidFill>
                            <a:srgbClr val="1A2B34"/>
                          </a:solidFill>
                          <a:latin typeface="Calibri" pitchFamily="34" charset="0"/>
                          <a:ea typeface="Calibri" pitchFamily="34" charset="-122"/>
                          <a:cs typeface="Calibri" pitchFamily="34" charset="-120"/>
                        </a:rPr>
                        <a:t>PCR amplification</a:t>
                      </a:r>
                      <a:endParaRPr lang="en-US" sz="1300" dirty="0">
                        <a:latin typeface="Calibri" charset="0"/>
                        <a:ea typeface="Calibri" charset="0"/>
                        <a:cs typeface="Calibri"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lgn="ctr">
                        <a:buNone/>
                      </a:pPr>
                      <a:r>
                        <a:rPr lang="en-US" sz="1300" dirty="0">
                          <a:solidFill>
                            <a:srgbClr val="1A2B34"/>
                          </a:solidFill>
                          <a:latin typeface="Calibri" pitchFamily="34" charset="0"/>
                          <a:ea typeface="Calibri" pitchFamily="34" charset="-122"/>
                          <a:cs typeface="Calibri" pitchFamily="34" charset="-120"/>
                        </a:rPr>
                        <a:t>scATAC-seq</a:t>
                      </a:r>
                      <a:endParaRPr lang="en-US" sz="1300" dirty="0">
                        <a:latin typeface="Calibri" charset="0"/>
                        <a:ea typeface="Calibri" charset="0"/>
                        <a:cs typeface="Calibri"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D1EDE8"/>
                    </a:solidFill>
                  </a:tcPr>
                </a:tc>
                <a:tc>
                  <a:txBody>
                    <a:bodyPr/>
                    <a:lstStyle/>
                    <a:p>
                      <a:pPr marL="0" indent="0" algn="ctr">
                        <a:buNone/>
                      </a:pPr>
                      <a:r>
                        <a:rPr lang="en-US" sz="1300" dirty="0">
                          <a:solidFill>
                            <a:srgbClr val="1A2B34"/>
                          </a:solidFill>
                          <a:latin typeface="Calibri" pitchFamily="34" charset="0"/>
                          <a:ea typeface="Calibri" pitchFamily="34" charset="-122"/>
                          <a:cs typeface="Calibri" pitchFamily="34" charset="-120"/>
                        </a:rPr>
                        <a:t>Binary / sparse</a:t>
                      </a:r>
                      <a:endParaRPr lang="en-US" sz="1300" dirty="0">
                        <a:latin typeface="Calibri" charset="0"/>
                        <a:ea typeface="Calibri" charset="0"/>
                        <a:cs typeface="Calibri" charset="0"/>
                      </a:endParaRPr>
                    </a:p>
                    <a:p>
                      <a:pPr marL="0" indent="0" algn="ctr">
                        <a:buNone/>
                      </a:pPr>
                      <a:r>
                        <a:rPr lang="en-US" sz="1300" dirty="0">
                          <a:solidFill>
                            <a:srgbClr val="1A2B34"/>
                          </a:solidFill>
                          <a:latin typeface="Calibri" pitchFamily="34" charset="0"/>
                          <a:ea typeface="Calibri" pitchFamily="34" charset="-122"/>
                          <a:cs typeface="Calibri" pitchFamily="34" charset="-120"/>
                        </a:rPr>
                        <a:t>counts</a:t>
                      </a:r>
                      <a:endParaRPr lang="en-US" sz="1300" dirty="0">
                        <a:latin typeface="Calibri" charset="0"/>
                        <a:ea typeface="Calibri" charset="0"/>
                        <a:cs typeface="Calibri"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D1EDE8"/>
                    </a:solidFill>
                  </a:tcPr>
                </a:tc>
                <a:tc>
                  <a:txBody>
                    <a:bodyPr/>
                    <a:lstStyle/>
                    <a:p>
                      <a:pPr marL="0" indent="0" algn="ctr">
                        <a:buNone/>
                      </a:pPr>
                      <a:r>
                        <a:rPr lang="en-US" sz="1300" dirty="0">
                          <a:solidFill>
                            <a:srgbClr val="1A2B34"/>
                          </a:solidFill>
                          <a:latin typeface="Calibri" pitchFamily="34" charset="0"/>
                          <a:ea typeface="Calibri" pitchFamily="34" charset="-122"/>
                          <a:cs typeface="Calibri" pitchFamily="34" charset="-120"/>
                        </a:rPr>
                        <a:t>100K–500K</a:t>
                      </a:r>
                      <a:endParaRPr lang="en-US" sz="1300" dirty="0">
                        <a:latin typeface="Calibri" charset="0"/>
                        <a:ea typeface="Calibri" charset="0"/>
                        <a:cs typeface="Calibri" charset="0"/>
                      </a:endParaRPr>
                    </a:p>
                    <a:p>
                      <a:pPr marL="0" indent="0" algn="ctr">
                        <a:buNone/>
                      </a:pPr>
                      <a:r>
                        <a:rPr lang="en-US" sz="1300" dirty="0">
                          <a:solidFill>
                            <a:srgbClr val="1A2B34"/>
                          </a:solidFill>
                          <a:latin typeface="Calibri" pitchFamily="34" charset="0"/>
                          <a:ea typeface="Calibri" pitchFamily="34" charset="-122"/>
                          <a:cs typeface="Calibri" pitchFamily="34" charset="-120"/>
                        </a:rPr>
                        <a:t>peaks</a:t>
                      </a:r>
                      <a:endParaRPr lang="en-US" sz="1300" dirty="0">
                        <a:latin typeface="Calibri" charset="0"/>
                        <a:ea typeface="Calibri" charset="0"/>
                        <a:cs typeface="Calibri"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D1EDE8"/>
                    </a:solidFill>
                  </a:tcPr>
                </a:tc>
                <a:tc>
                  <a:txBody>
                    <a:bodyPr/>
                    <a:lstStyle/>
                    <a:p>
                      <a:pPr marL="0" indent="0" algn="ctr">
                        <a:buNone/>
                      </a:pPr>
                      <a:r>
                        <a:rPr lang="en-US" sz="1300" dirty="0">
                          <a:solidFill>
                            <a:srgbClr val="1A2B34"/>
                          </a:solidFill>
                          <a:latin typeface="Calibri" pitchFamily="34" charset="0"/>
                          <a:ea typeface="Calibri" pitchFamily="34" charset="-122"/>
                          <a:cs typeface="Calibri" pitchFamily="34" charset="-120"/>
                        </a:rPr>
                        <a:t>90–99%</a:t>
                      </a:r>
                      <a:endParaRPr lang="en-US" sz="1300" dirty="0">
                        <a:latin typeface="Calibri" charset="0"/>
                        <a:ea typeface="Calibri" charset="0"/>
                        <a:cs typeface="Calibri" charset="0"/>
                      </a:endParaRPr>
                    </a:p>
                    <a:p>
                      <a:pPr marL="0" indent="0" algn="ctr">
                        <a:buNone/>
                      </a:pPr>
                      <a:r>
                        <a:rPr lang="en-US" sz="1300" dirty="0">
                          <a:solidFill>
                            <a:srgbClr val="1A2B34"/>
                          </a:solidFill>
                          <a:latin typeface="Calibri" pitchFamily="34" charset="0"/>
                          <a:ea typeface="Calibri" pitchFamily="34" charset="-122"/>
                          <a:cs typeface="Calibri" pitchFamily="34" charset="-120"/>
                        </a:rPr>
                        <a:t>dropout</a:t>
                      </a:r>
                      <a:endParaRPr lang="en-US" sz="1300" dirty="0">
                        <a:latin typeface="Calibri" charset="0"/>
                        <a:ea typeface="Calibri" charset="0"/>
                        <a:cs typeface="Calibri"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D1EDE8"/>
                    </a:solidFill>
                  </a:tcPr>
                </a:tc>
                <a:tc>
                  <a:txBody>
                    <a:bodyPr/>
                    <a:lstStyle/>
                    <a:p>
                      <a:pPr marL="0" indent="0" algn="ctr">
                        <a:buNone/>
                      </a:pPr>
                      <a:r>
                        <a:rPr lang="en-US" sz="1300" dirty="0">
                          <a:solidFill>
                            <a:srgbClr val="1A2B34"/>
                          </a:solidFill>
                          <a:latin typeface="Calibri" pitchFamily="34" charset="0"/>
                          <a:ea typeface="Calibri" pitchFamily="34" charset="-122"/>
                          <a:cs typeface="Calibri" pitchFamily="34" charset="-120"/>
                        </a:rPr>
                        <a:t>Hours–days</a:t>
                      </a:r>
                      <a:endParaRPr lang="en-US" sz="1300" dirty="0">
                        <a:latin typeface="Calibri" charset="0"/>
                        <a:ea typeface="Calibri" charset="0"/>
                        <a:cs typeface="Calibri" charset="0"/>
                      </a:endParaRPr>
                    </a:p>
                    <a:p>
                      <a:pPr marL="0" indent="0" algn="ctr">
                        <a:buNone/>
                      </a:pPr>
                      <a:r>
                        <a:rPr lang="en-US" sz="1300" dirty="0">
                          <a:solidFill>
                            <a:srgbClr val="1A2B34"/>
                          </a:solidFill>
                          <a:latin typeface="Calibri" pitchFamily="34" charset="0"/>
                          <a:ea typeface="Calibri" pitchFamily="34" charset="-122"/>
                          <a:cs typeface="Calibri" pitchFamily="34" charset="-120"/>
                        </a:rPr>
                        <a:t>(chromatin state)</a:t>
                      </a:r>
                      <a:endParaRPr lang="en-US" sz="1300" dirty="0">
                        <a:latin typeface="Calibri" charset="0"/>
                        <a:ea typeface="Calibri" charset="0"/>
                        <a:cs typeface="Calibri"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D1EDE8"/>
                    </a:solidFill>
                  </a:tcPr>
                </a:tc>
                <a:tc>
                  <a:txBody>
                    <a:bodyPr/>
                    <a:lstStyle/>
                    <a:p>
                      <a:pPr marL="0" indent="0" algn="ctr">
                        <a:buNone/>
                      </a:pPr>
                      <a:r>
                        <a:rPr lang="en-US" sz="1300" dirty="0">
                          <a:solidFill>
                            <a:srgbClr val="1A2B34"/>
                          </a:solidFill>
                          <a:latin typeface="Calibri" pitchFamily="34" charset="0"/>
                          <a:ea typeface="Calibri" pitchFamily="34" charset="-122"/>
                          <a:cs typeface="Calibri" pitchFamily="34" charset="-120"/>
                        </a:rPr>
                        <a:t>Tn5 insertion bias</a:t>
                      </a:r>
                      <a:endParaRPr lang="en-US" sz="1300" dirty="0">
                        <a:latin typeface="Calibri" charset="0"/>
                        <a:ea typeface="Calibri" charset="0"/>
                        <a:cs typeface="Calibri" charset="0"/>
                      </a:endParaRPr>
                    </a:p>
                    <a:p>
                      <a:pPr marL="0" indent="0" algn="ctr">
                        <a:buNone/>
                      </a:pPr>
                      <a:r>
                        <a:rPr lang="en-US" sz="1300" dirty="0">
                          <a:solidFill>
                            <a:srgbClr val="1A2B34"/>
                          </a:solidFill>
                          <a:latin typeface="Calibri" pitchFamily="34" charset="0"/>
                          <a:ea typeface="Calibri" pitchFamily="34" charset="-122"/>
                          <a:cs typeface="Calibri" pitchFamily="34" charset="-120"/>
                        </a:rPr>
                        <a:t>Low copy number</a:t>
                      </a:r>
                      <a:endParaRPr lang="en-US" sz="1300" dirty="0">
                        <a:latin typeface="Calibri" charset="0"/>
                        <a:ea typeface="Calibri" charset="0"/>
                        <a:cs typeface="Calibri"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D1EDE8"/>
                    </a:solidFill>
                  </a:tcPr>
                </a:tc>
                <a:extLst>
                  <a:ext uri="{0D108BD9-81ED-4DB2-BD59-A6C34878D82A}">
                    <a16:rowId xmlns:a16="http://schemas.microsoft.com/office/drawing/2014/main" val="10002"/>
                  </a:ext>
                </a:extLst>
              </a:tr>
              <a:tr h="731520">
                <a:tc>
                  <a:txBody>
                    <a:bodyPr/>
                    <a:lstStyle/>
                    <a:p>
                      <a:pPr marL="0" indent="0" algn="ctr">
                        <a:buNone/>
                      </a:pPr>
                      <a:r>
                        <a:rPr lang="en-US" sz="1300" dirty="0">
                          <a:solidFill>
                            <a:srgbClr val="1A2B34"/>
                          </a:solidFill>
                          <a:latin typeface="Calibri" pitchFamily="34" charset="0"/>
                          <a:ea typeface="Calibri" pitchFamily="34" charset="-122"/>
                          <a:cs typeface="Calibri" pitchFamily="34" charset="-120"/>
                        </a:rPr>
                        <a:t>Proteomics</a:t>
                      </a:r>
                      <a:endParaRPr lang="en-US" sz="1300" dirty="0">
                        <a:latin typeface="Calibri" charset="0"/>
                        <a:ea typeface="Calibri" charset="0"/>
                        <a:cs typeface="Calibri" charset="0"/>
                      </a:endParaRPr>
                    </a:p>
                    <a:p>
                      <a:pPr marL="0" indent="0" algn="ctr">
                        <a:buNone/>
                      </a:pPr>
                      <a:r>
                        <a:rPr lang="en-US" sz="1300" dirty="0">
                          <a:solidFill>
                            <a:srgbClr val="1A2B34"/>
                          </a:solidFill>
                          <a:latin typeface="Calibri" pitchFamily="34" charset="0"/>
                          <a:ea typeface="Calibri" pitchFamily="34" charset="-122"/>
                          <a:cs typeface="Calibri" pitchFamily="34" charset="-120"/>
                        </a:rPr>
                        <a:t>(MS-based)</a:t>
                      </a:r>
                      <a:endParaRPr lang="en-US" sz="1300" dirty="0">
                        <a:latin typeface="Calibri" charset="0"/>
                        <a:ea typeface="Calibri" charset="0"/>
                        <a:cs typeface="Calibri"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B34"/>
                          </a:solidFill>
                          <a:latin typeface="Calibri" pitchFamily="34" charset="0"/>
                          <a:ea typeface="Calibri" pitchFamily="34" charset="-122"/>
                          <a:cs typeface="Calibri" pitchFamily="34" charset="-120"/>
                        </a:rPr>
                        <a:t>Continuous</a:t>
                      </a:r>
                      <a:endParaRPr lang="en-US" sz="1300" dirty="0">
                        <a:latin typeface="Calibri" charset="0"/>
                        <a:ea typeface="Calibri" charset="0"/>
                        <a:cs typeface="Calibri" charset="0"/>
                      </a:endParaRPr>
                    </a:p>
                    <a:p>
                      <a:pPr marL="0" indent="0" algn="ctr">
                        <a:buNone/>
                      </a:pPr>
                      <a:r>
                        <a:rPr lang="en-US" sz="1300" dirty="0">
                          <a:solidFill>
                            <a:srgbClr val="1A2B34"/>
                          </a:solidFill>
                          <a:latin typeface="Calibri" pitchFamily="34" charset="0"/>
                          <a:ea typeface="Calibri" pitchFamily="34" charset="-122"/>
                          <a:cs typeface="Calibri" pitchFamily="34" charset="-120"/>
                        </a:rPr>
                        <a:t>intensity</a:t>
                      </a:r>
                      <a:endParaRPr lang="en-US" sz="1300" dirty="0">
                        <a:latin typeface="Calibri" charset="0"/>
                        <a:ea typeface="Calibri" charset="0"/>
                        <a:cs typeface="Calibri"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B34"/>
                          </a:solidFill>
                          <a:latin typeface="Calibri" pitchFamily="34" charset="0"/>
                          <a:ea typeface="Calibri" pitchFamily="34" charset="-122"/>
                          <a:cs typeface="Calibri" pitchFamily="34" charset="-120"/>
                        </a:rPr>
                        <a:t>5,000–10,000</a:t>
                      </a:r>
                      <a:endParaRPr lang="en-US" sz="1300" dirty="0">
                        <a:latin typeface="Calibri" charset="0"/>
                        <a:ea typeface="Calibri" charset="0"/>
                        <a:cs typeface="Calibri" charset="0"/>
                      </a:endParaRPr>
                    </a:p>
                    <a:p>
                      <a:pPr marL="0" indent="0" algn="ctr">
                        <a:buNone/>
                      </a:pPr>
                      <a:r>
                        <a:rPr lang="en-US" sz="1300" dirty="0">
                          <a:solidFill>
                            <a:srgbClr val="1A2B34"/>
                          </a:solidFill>
                          <a:latin typeface="Calibri" pitchFamily="34" charset="0"/>
                          <a:ea typeface="Calibri" pitchFamily="34" charset="-122"/>
                          <a:cs typeface="Calibri" pitchFamily="34" charset="-120"/>
                        </a:rPr>
                        <a:t>proteins</a:t>
                      </a:r>
                      <a:endParaRPr lang="en-US" sz="1300" dirty="0">
                        <a:latin typeface="Calibri" charset="0"/>
                        <a:ea typeface="Calibri" charset="0"/>
                        <a:cs typeface="Calibri"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B34"/>
                          </a:solidFill>
                          <a:latin typeface="Calibri" pitchFamily="34" charset="0"/>
                          <a:ea typeface="Calibri" pitchFamily="34" charset="-122"/>
                          <a:cs typeface="Calibri" pitchFamily="34" charset="-120"/>
                        </a:rPr>
                        <a:t>N/A</a:t>
                      </a:r>
                      <a:endParaRPr lang="en-US" sz="1300" dirty="0">
                        <a:latin typeface="Calibri" charset="0"/>
                        <a:ea typeface="Calibri" charset="0"/>
                        <a:cs typeface="Calibri" charset="0"/>
                      </a:endParaRPr>
                    </a:p>
                    <a:p>
                      <a:pPr marL="0" indent="0" algn="ctr">
                        <a:buNone/>
                      </a:pPr>
                      <a:r>
                        <a:rPr lang="en-US" sz="1300" dirty="0">
                          <a:solidFill>
                            <a:srgbClr val="1A2B34"/>
                          </a:solidFill>
                          <a:latin typeface="Calibri" pitchFamily="34" charset="0"/>
                          <a:ea typeface="Calibri" pitchFamily="34" charset="-122"/>
                          <a:cs typeface="Calibri" pitchFamily="34" charset="-120"/>
                        </a:rPr>
                        <a:t>(bulk typical)</a:t>
                      </a:r>
                      <a:endParaRPr lang="en-US" sz="1300" dirty="0">
                        <a:latin typeface="Calibri" charset="0"/>
                        <a:ea typeface="Calibri" charset="0"/>
                        <a:cs typeface="Calibri"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B34"/>
                          </a:solidFill>
                          <a:latin typeface="Calibri" pitchFamily="34" charset="0"/>
                          <a:ea typeface="Calibri" pitchFamily="34" charset="-122"/>
                          <a:cs typeface="Calibri" pitchFamily="34" charset="-120"/>
                        </a:rPr>
                        <a:t>Hours–days</a:t>
                      </a:r>
                      <a:endParaRPr lang="en-US" sz="1300" dirty="0">
                        <a:latin typeface="Calibri" charset="0"/>
                        <a:ea typeface="Calibri" charset="0"/>
                        <a:cs typeface="Calibri" charset="0"/>
                      </a:endParaRPr>
                    </a:p>
                    <a:p>
                      <a:pPr marL="0" indent="0" algn="ctr">
                        <a:buNone/>
                      </a:pPr>
                      <a:r>
                        <a:rPr lang="en-US" sz="1300" dirty="0">
                          <a:solidFill>
                            <a:srgbClr val="1A2B34"/>
                          </a:solidFill>
                          <a:latin typeface="Calibri" pitchFamily="34" charset="0"/>
                          <a:ea typeface="Calibri" pitchFamily="34" charset="-122"/>
                          <a:cs typeface="Calibri" pitchFamily="34" charset="-120"/>
                        </a:rPr>
                        <a:t>(protein half-life)</a:t>
                      </a:r>
                      <a:endParaRPr lang="en-US" sz="1300" dirty="0">
                        <a:latin typeface="Calibri" charset="0"/>
                        <a:ea typeface="Calibri" charset="0"/>
                        <a:cs typeface="Calibri"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B34"/>
                          </a:solidFill>
                          <a:latin typeface="Calibri" pitchFamily="34" charset="0"/>
                          <a:ea typeface="Calibri" pitchFamily="34" charset="-122"/>
                          <a:cs typeface="Calibri" pitchFamily="34" charset="-120"/>
                        </a:rPr>
                        <a:t>Ionization</a:t>
                      </a:r>
                      <a:endParaRPr lang="en-US" sz="1300" dirty="0">
                        <a:latin typeface="Calibri" charset="0"/>
                        <a:ea typeface="Calibri" charset="0"/>
                        <a:cs typeface="Calibri" charset="0"/>
                      </a:endParaRPr>
                    </a:p>
                    <a:p>
                      <a:pPr marL="0" indent="0" algn="ctr">
                        <a:buNone/>
                      </a:pPr>
                      <a:r>
                        <a:rPr lang="en-US" sz="1300" dirty="0">
                          <a:solidFill>
                            <a:srgbClr val="1A2B34"/>
                          </a:solidFill>
                          <a:latin typeface="Calibri" pitchFamily="34" charset="0"/>
                          <a:ea typeface="Calibri" pitchFamily="34" charset="-122"/>
                          <a:cs typeface="Calibri" pitchFamily="34" charset="-120"/>
                        </a:rPr>
                        <a:t>suppression</a:t>
                      </a:r>
                      <a:endParaRPr lang="en-US" sz="1300" dirty="0">
                        <a:latin typeface="Calibri" charset="0"/>
                        <a:ea typeface="Calibri" charset="0"/>
                        <a:cs typeface="Calibri"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1520">
                <a:tc>
                  <a:txBody>
                    <a:bodyPr/>
                    <a:lstStyle/>
                    <a:p>
                      <a:pPr marL="0" indent="0" algn="ctr">
                        <a:buNone/>
                      </a:pPr>
                      <a:r>
                        <a:rPr lang="en-US" sz="1300" dirty="0">
                          <a:solidFill>
                            <a:srgbClr val="1A2B34"/>
                          </a:solidFill>
                          <a:latin typeface="Calibri" pitchFamily="34" charset="0"/>
                          <a:ea typeface="Calibri" pitchFamily="34" charset="-122"/>
                          <a:cs typeface="Calibri" pitchFamily="34" charset="-120"/>
                        </a:rPr>
                        <a:t>Methylation</a:t>
                      </a:r>
                      <a:endParaRPr lang="en-US" sz="1300" dirty="0">
                        <a:latin typeface="Calibri" charset="0"/>
                        <a:ea typeface="Calibri" charset="0"/>
                        <a:cs typeface="Calibri" charset="0"/>
                      </a:endParaRPr>
                    </a:p>
                    <a:p>
                      <a:pPr marL="0" indent="0" algn="ctr">
                        <a:buNone/>
                      </a:pPr>
                      <a:r>
                        <a:rPr lang="en-US" sz="1300" dirty="0">
                          <a:solidFill>
                            <a:srgbClr val="1A2B34"/>
                          </a:solidFill>
                          <a:latin typeface="Calibri" pitchFamily="34" charset="0"/>
                          <a:ea typeface="Calibri" pitchFamily="34" charset="-122"/>
                          <a:cs typeface="Calibri" pitchFamily="34" charset="-120"/>
                        </a:rPr>
                        <a:t>(450K/EPIC)</a:t>
                      </a:r>
                      <a:endParaRPr lang="en-US" sz="1300" dirty="0">
                        <a:latin typeface="Calibri" charset="0"/>
                        <a:ea typeface="Calibri" charset="0"/>
                        <a:cs typeface="Calibri"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D1EDE8"/>
                    </a:solidFill>
                  </a:tcPr>
                </a:tc>
                <a:tc>
                  <a:txBody>
                    <a:bodyPr/>
                    <a:lstStyle/>
                    <a:p>
                      <a:pPr marL="0" indent="0" algn="ctr">
                        <a:buNone/>
                      </a:pPr>
                      <a:r>
                        <a:rPr lang="en-US" sz="1300" dirty="0">
                          <a:solidFill>
                            <a:srgbClr val="1A2B34"/>
                          </a:solidFill>
                          <a:latin typeface="Calibri" pitchFamily="34" charset="0"/>
                          <a:ea typeface="Calibri" pitchFamily="34" charset="-122"/>
                          <a:cs typeface="Calibri" pitchFamily="34" charset="-120"/>
                        </a:rPr>
                        <a:t>Beta values</a:t>
                      </a:r>
                      <a:endParaRPr lang="en-US" sz="1300" dirty="0">
                        <a:latin typeface="Calibri" charset="0"/>
                        <a:ea typeface="Calibri" charset="0"/>
                        <a:cs typeface="Calibri" charset="0"/>
                      </a:endParaRPr>
                    </a:p>
                    <a:p>
                      <a:pPr marL="0" indent="0" algn="ctr">
                        <a:buNone/>
                      </a:pPr>
                      <a:r>
                        <a:rPr lang="en-US" sz="1300" dirty="0">
                          <a:solidFill>
                            <a:srgbClr val="1A2B34"/>
                          </a:solidFill>
                          <a:latin typeface="Calibri" pitchFamily="34" charset="0"/>
                          <a:ea typeface="Calibri" pitchFamily="34" charset="-122"/>
                          <a:cs typeface="Calibri" pitchFamily="34" charset="-120"/>
                        </a:rPr>
                        <a:t>(0–1 bounded)</a:t>
                      </a:r>
                      <a:endParaRPr lang="en-US" sz="1300" dirty="0">
                        <a:latin typeface="Calibri" charset="0"/>
                        <a:ea typeface="Calibri" charset="0"/>
                        <a:cs typeface="Calibri"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D1EDE8"/>
                    </a:solidFill>
                  </a:tcPr>
                </a:tc>
                <a:tc>
                  <a:txBody>
                    <a:bodyPr/>
                    <a:lstStyle/>
                    <a:p>
                      <a:pPr marL="0" indent="0" algn="ctr">
                        <a:buNone/>
                      </a:pPr>
                      <a:r>
                        <a:rPr lang="en-US" sz="1300" dirty="0">
                          <a:solidFill>
                            <a:srgbClr val="1A2B34"/>
                          </a:solidFill>
                          <a:latin typeface="Calibri" pitchFamily="34" charset="0"/>
                          <a:ea typeface="Calibri" pitchFamily="34" charset="-122"/>
                          <a:cs typeface="Calibri" pitchFamily="34" charset="-120"/>
                        </a:rPr>
                        <a:t>450K–850K</a:t>
                      </a:r>
                      <a:endParaRPr lang="en-US" sz="1300" dirty="0">
                        <a:latin typeface="Calibri" charset="0"/>
                        <a:ea typeface="Calibri" charset="0"/>
                        <a:cs typeface="Calibri" charset="0"/>
                      </a:endParaRPr>
                    </a:p>
                    <a:p>
                      <a:pPr marL="0" indent="0" algn="ctr">
                        <a:buNone/>
                      </a:pPr>
                      <a:r>
                        <a:rPr lang="en-US" sz="1300" dirty="0">
                          <a:solidFill>
                            <a:srgbClr val="1A2B34"/>
                          </a:solidFill>
                          <a:latin typeface="Calibri" pitchFamily="34" charset="0"/>
                          <a:ea typeface="Calibri" pitchFamily="34" charset="-122"/>
                          <a:cs typeface="Calibri" pitchFamily="34" charset="-120"/>
                        </a:rPr>
                        <a:t>CpG sites</a:t>
                      </a:r>
                      <a:endParaRPr lang="en-US" sz="1300" dirty="0">
                        <a:latin typeface="Calibri" charset="0"/>
                        <a:ea typeface="Calibri" charset="0"/>
                        <a:cs typeface="Calibri"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D1EDE8"/>
                    </a:solidFill>
                  </a:tcPr>
                </a:tc>
                <a:tc>
                  <a:txBody>
                    <a:bodyPr/>
                    <a:lstStyle/>
                    <a:p>
                      <a:pPr marL="0" indent="0" algn="ctr">
                        <a:buNone/>
                      </a:pPr>
                      <a:r>
                        <a:rPr lang="en-US" sz="1300" dirty="0">
                          <a:solidFill>
                            <a:srgbClr val="1A2B34"/>
                          </a:solidFill>
                          <a:latin typeface="Calibri" pitchFamily="34" charset="0"/>
                          <a:ea typeface="Calibri" pitchFamily="34" charset="-122"/>
                          <a:cs typeface="Calibri" pitchFamily="34" charset="-120"/>
                        </a:rPr>
                        <a:t>N/A</a:t>
                      </a:r>
                      <a:endParaRPr lang="en-US" sz="1300" dirty="0">
                        <a:latin typeface="Calibri" charset="0"/>
                        <a:ea typeface="Calibri" charset="0"/>
                        <a:cs typeface="Calibri" charset="0"/>
                      </a:endParaRPr>
                    </a:p>
                    <a:p>
                      <a:pPr marL="0" indent="0" algn="ctr">
                        <a:buNone/>
                      </a:pPr>
                      <a:r>
                        <a:rPr lang="en-US" sz="1300" dirty="0">
                          <a:solidFill>
                            <a:srgbClr val="1A2B34"/>
                          </a:solidFill>
                          <a:latin typeface="Calibri" pitchFamily="34" charset="0"/>
                          <a:ea typeface="Calibri" pitchFamily="34" charset="-122"/>
                          <a:cs typeface="Calibri" pitchFamily="34" charset="-120"/>
                        </a:rPr>
                        <a:t>(array-based)</a:t>
                      </a:r>
                      <a:endParaRPr lang="en-US" sz="1300" dirty="0">
                        <a:latin typeface="Calibri" charset="0"/>
                        <a:ea typeface="Calibri" charset="0"/>
                        <a:cs typeface="Calibri"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D1EDE8"/>
                    </a:solidFill>
                  </a:tcPr>
                </a:tc>
                <a:tc>
                  <a:txBody>
                    <a:bodyPr/>
                    <a:lstStyle/>
                    <a:p>
                      <a:pPr marL="0" indent="0" algn="ctr">
                        <a:buNone/>
                      </a:pPr>
                      <a:r>
                        <a:rPr lang="en-US" sz="1300" dirty="0">
                          <a:solidFill>
                            <a:srgbClr val="1A2B34"/>
                          </a:solidFill>
                          <a:latin typeface="Calibri" pitchFamily="34" charset="0"/>
                          <a:ea typeface="Calibri" pitchFamily="34" charset="-122"/>
                          <a:cs typeface="Calibri" pitchFamily="34" charset="-120"/>
                        </a:rPr>
                        <a:t>Days–weeks</a:t>
                      </a:r>
                      <a:endParaRPr lang="en-US" sz="1300" dirty="0">
                        <a:latin typeface="Calibri" charset="0"/>
                        <a:ea typeface="Calibri" charset="0"/>
                        <a:cs typeface="Calibri" charset="0"/>
                      </a:endParaRPr>
                    </a:p>
                    <a:p>
                      <a:pPr marL="0" indent="0" algn="ctr">
                        <a:buNone/>
                      </a:pPr>
                      <a:r>
                        <a:rPr lang="en-US" sz="1300" dirty="0">
                          <a:solidFill>
                            <a:srgbClr val="1A2B34"/>
                          </a:solidFill>
                          <a:latin typeface="Calibri" pitchFamily="34" charset="0"/>
                          <a:ea typeface="Calibri" pitchFamily="34" charset="-122"/>
                          <a:cs typeface="Calibri" pitchFamily="34" charset="-120"/>
                        </a:rPr>
                        <a:t>(epigenetic memory)</a:t>
                      </a:r>
                      <a:endParaRPr lang="en-US" sz="1300" dirty="0">
                        <a:latin typeface="Calibri" charset="0"/>
                        <a:ea typeface="Calibri" charset="0"/>
                        <a:cs typeface="Calibri"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D1EDE8"/>
                    </a:solidFill>
                  </a:tcPr>
                </a:tc>
                <a:tc>
                  <a:txBody>
                    <a:bodyPr/>
                    <a:lstStyle/>
                    <a:p>
                      <a:pPr marL="0" indent="0" algn="ctr">
                        <a:buNone/>
                      </a:pPr>
                      <a:r>
                        <a:rPr lang="en-US" sz="1300" dirty="0">
                          <a:solidFill>
                            <a:srgbClr val="1A2B34"/>
                          </a:solidFill>
                          <a:latin typeface="Calibri" pitchFamily="34" charset="0"/>
                          <a:ea typeface="Calibri" pitchFamily="34" charset="-122"/>
                          <a:cs typeface="Calibri" pitchFamily="34" charset="-120"/>
                        </a:rPr>
                        <a:t>Probe cross-</a:t>
                      </a:r>
                      <a:endParaRPr lang="en-US" sz="1300" dirty="0">
                        <a:latin typeface="Calibri" charset="0"/>
                        <a:ea typeface="Calibri" charset="0"/>
                        <a:cs typeface="Calibri" charset="0"/>
                      </a:endParaRPr>
                    </a:p>
                    <a:p>
                      <a:pPr marL="0" indent="0" algn="ctr">
                        <a:buNone/>
                      </a:pPr>
                      <a:r>
                        <a:rPr lang="en-US" sz="1300" dirty="0">
                          <a:solidFill>
                            <a:srgbClr val="1A2B34"/>
                          </a:solidFill>
                          <a:latin typeface="Calibri" pitchFamily="34" charset="0"/>
                          <a:ea typeface="Calibri" pitchFamily="34" charset="-122"/>
                          <a:cs typeface="Calibri" pitchFamily="34" charset="-120"/>
                        </a:rPr>
                        <a:t>hybridization</a:t>
                      </a:r>
                      <a:endParaRPr lang="en-US" sz="1300" dirty="0">
                        <a:latin typeface="Calibri" charset="0"/>
                        <a:ea typeface="Calibri" charset="0"/>
                        <a:cs typeface="Calibri"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D1EDE8"/>
                    </a:solidFill>
                  </a:tcPr>
                </a:tc>
                <a:extLst>
                  <a:ext uri="{0D108BD9-81ED-4DB2-BD59-A6C34878D82A}">
                    <a16:rowId xmlns:a16="http://schemas.microsoft.com/office/drawing/2014/main" val="10004"/>
                  </a:ext>
                </a:extLst>
              </a:tr>
              <a:tr h="731520">
                <a:tc>
                  <a:txBody>
                    <a:bodyPr/>
                    <a:lstStyle/>
                    <a:p>
                      <a:pPr marL="0" indent="0" algn="ctr">
                        <a:buNone/>
                      </a:pPr>
                      <a:r>
                        <a:rPr lang="en-US" sz="1300" dirty="0">
                          <a:solidFill>
                            <a:srgbClr val="1A2B34"/>
                          </a:solidFill>
                          <a:latin typeface="Calibri" pitchFamily="34" charset="0"/>
                          <a:ea typeface="Calibri" pitchFamily="34" charset="-122"/>
                          <a:cs typeface="Calibri" pitchFamily="34" charset="-120"/>
                        </a:rPr>
                        <a:t>Metabolomics</a:t>
                      </a:r>
                      <a:endParaRPr lang="en-US" sz="1300" dirty="0">
                        <a:latin typeface="Calibri" charset="0"/>
                        <a:ea typeface="Calibri" charset="0"/>
                        <a:cs typeface="Calibri" charset="0"/>
                      </a:endParaRPr>
                    </a:p>
                    <a:p>
                      <a:pPr marL="0" indent="0" algn="ctr">
                        <a:buNone/>
                      </a:pPr>
                      <a:r>
                        <a:rPr lang="en-US" sz="1300" dirty="0">
                          <a:solidFill>
                            <a:srgbClr val="1A2B34"/>
                          </a:solidFill>
                          <a:latin typeface="Calibri" pitchFamily="34" charset="0"/>
                          <a:ea typeface="Calibri" pitchFamily="34" charset="-122"/>
                          <a:cs typeface="Calibri" pitchFamily="34" charset="-120"/>
                        </a:rPr>
                        <a:t>(untargeted)</a:t>
                      </a:r>
                      <a:endParaRPr lang="en-US" sz="1300" dirty="0">
                        <a:latin typeface="Calibri" charset="0"/>
                        <a:ea typeface="Calibri" charset="0"/>
                        <a:cs typeface="Calibri"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B34"/>
                          </a:solidFill>
                          <a:latin typeface="Calibri" pitchFamily="34" charset="0"/>
                          <a:ea typeface="Calibri" pitchFamily="34" charset="-122"/>
                          <a:cs typeface="Calibri" pitchFamily="34" charset="-120"/>
                        </a:rPr>
                        <a:t>Continuous</a:t>
                      </a:r>
                      <a:endParaRPr lang="en-US" sz="1300" dirty="0">
                        <a:latin typeface="Calibri" charset="0"/>
                        <a:ea typeface="Calibri" charset="0"/>
                        <a:cs typeface="Calibri" charset="0"/>
                      </a:endParaRPr>
                    </a:p>
                    <a:p>
                      <a:pPr marL="0" indent="0" algn="ctr">
                        <a:buNone/>
                      </a:pPr>
                      <a:r>
                        <a:rPr lang="en-US" sz="1300" dirty="0">
                          <a:solidFill>
                            <a:srgbClr val="1A2B34"/>
                          </a:solidFill>
                          <a:latin typeface="Calibri" pitchFamily="34" charset="0"/>
                          <a:ea typeface="Calibri" pitchFamily="34" charset="-122"/>
                          <a:cs typeface="Calibri" pitchFamily="34" charset="-120"/>
                        </a:rPr>
                        <a:t>intensity</a:t>
                      </a:r>
                      <a:endParaRPr lang="en-US" sz="1300" dirty="0">
                        <a:latin typeface="Calibri" charset="0"/>
                        <a:ea typeface="Calibri" charset="0"/>
                        <a:cs typeface="Calibri"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B34"/>
                          </a:solidFill>
                          <a:latin typeface="Calibri" pitchFamily="34" charset="0"/>
                          <a:ea typeface="Calibri" pitchFamily="34" charset="-122"/>
                          <a:cs typeface="Calibri" pitchFamily="34" charset="-120"/>
                        </a:rPr>
                        <a:t>1,000–5,000</a:t>
                      </a:r>
                      <a:endParaRPr lang="en-US" sz="1300" dirty="0">
                        <a:latin typeface="Calibri" charset="0"/>
                        <a:ea typeface="Calibri" charset="0"/>
                        <a:cs typeface="Calibri" charset="0"/>
                      </a:endParaRPr>
                    </a:p>
                    <a:p>
                      <a:pPr marL="0" indent="0" algn="ctr">
                        <a:buNone/>
                      </a:pPr>
                      <a:r>
                        <a:rPr lang="en-US" sz="1300" dirty="0">
                          <a:solidFill>
                            <a:srgbClr val="1A2B34"/>
                          </a:solidFill>
                          <a:latin typeface="Calibri" pitchFamily="34" charset="0"/>
                          <a:ea typeface="Calibri" pitchFamily="34" charset="-122"/>
                          <a:cs typeface="Calibri" pitchFamily="34" charset="-120"/>
                        </a:rPr>
                        <a:t>m/z features</a:t>
                      </a:r>
                      <a:endParaRPr lang="en-US" sz="1300" dirty="0">
                        <a:latin typeface="Calibri" charset="0"/>
                        <a:ea typeface="Calibri" charset="0"/>
                        <a:cs typeface="Calibri"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B34"/>
                          </a:solidFill>
                          <a:latin typeface="Calibri" pitchFamily="34" charset="0"/>
                          <a:ea typeface="Calibri" pitchFamily="34" charset="-122"/>
                          <a:cs typeface="Calibri" pitchFamily="34" charset="-120"/>
                        </a:rPr>
                        <a:t>N/A</a:t>
                      </a:r>
                      <a:endParaRPr lang="en-US" sz="1300" dirty="0">
                        <a:latin typeface="Calibri" charset="0"/>
                        <a:ea typeface="Calibri" charset="0"/>
                        <a:cs typeface="Calibri" charset="0"/>
                      </a:endParaRPr>
                    </a:p>
                    <a:p>
                      <a:pPr marL="0" indent="0" algn="ctr">
                        <a:buNone/>
                      </a:pPr>
                      <a:r>
                        <a:rPr lang="en-US" sz="1300" dirty="0">
                          <a:solidFill>
                            <a:srgbClr val="1A2B34"/>
                          </a:solidFill>
                          <a:latin typeface="Calibri" pitchFamily="34" charset="0"/>
                          <a:ea typeface="Calibri" pitchFamily="34" charset="-122"/>
                          <a:cs typeface="Calibri" pitchFamily="34" charset="-120"/>
                        </a:rPr>
                        <a:t>(bulk typical)</a:t>
                      </a:r>
                      <a:endParaRPr lang="en-US" sz="1300" dirty="0">
                        <a:latin typeface="Calibri" charset="0"/>
                        <a:ea typeface="Calibri" charset="0"/>
                        <a:cs typeface="Calibri"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B34"/>
                          </a:solidFill>
                          <a:latin typeface="Calibri" pitchFamily="34" charset="0"/>
                          <a:ea typeface="Calibri" pitchFamily="34" charset="-122"/>
                          <a:cs typeface="Calibri" pitchFamily="34" charset="-120"/>
                        </a:rPr>
                        <a:t>Seconds–minutes</a:t>
                      </a:r>
                      <a:endParaRPr lang="en-US" sz="1300" dirty="0">
                        <a:latin typeface="Calibri" charset="0"/>
                        <a:ea typeface="Calibri" charset="0"/>
                        <a:cs typeface="Calibri" charset="0"/>
                      </a:endParaRPr>
                    </a:p>
                    <a:p>
                      <a:pPr marL="0" indent="0" algn="ctr">
                        <a:buNone/>
                      </a:pPr>
                      <a:r>
                        <a:rPr lang="en-US" sz="1300" dirty="0">
                          <a:solidFill>
                            <a:srgbClr val="1A2B34"/>
                          </a:solidFill>
                          <a:latin typeface="Calibri" pitchFamily="34" charset="0"/>
                          <a:ea typeface="Calibri" pitchFamily="34" charset="-122"/>
                          <a:cs typeface="Calibri" pitchFamily="34" charset="-120"/>
                        </a:rPr>
                        <a:t>(metabolite flux)</a:t>
                      </a:r>
                      <a:endParaRPr lang="en-US" sz="1300" dirty="0">
                        <a:latin typeface="Calibri" charset="0"/>
                        <a:ea typeface="Calibri" charset="0"/>
                        <a:cs typeface="Calibri"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B34"/>
                          </a:solidFill>
                          <a:latin typeface="Calibri" pitchFamily="34" charset="0"/>
                          <a:ea typeface="Calibri" pitchFamily="34" charset="-122"/>
                          <a:cs typeface="Calibri" pitchFamily="34" charset="-120"/>
                        </a:rPr>
                        <a:t>Matrix effects</a:t>
                      </a:r>
                      <a:endParaRPr lang="en-US" sz="1300" dirty="0">
                        <a:latin typeface="Calibri" charset="0"/>
                        <a:ea typeface="Calibri" charset="0"/>
                        <a:cs typeface="Calibri" charset="0"/>
                      </a:endParaRPr>
                    </a:p>
                    <a:p>
                      <a:pPr marL="0" indent="0" algn="ctr">
                        <a:buNone/>
                      </a:pPr>
                      <a:r>
                        <a:rPr lang="en-US" sz="1300" dirty="0">
                          <a:solidFill>
                            <a:srgbClr val="1A2B34"/>
                          </a:solidFill>
                          <a:latin typeface="Calibri" pitchFamily="34" charset="0"/>
                          <a:ea typeface="Calibri" pitchFamily="34" charset="-122"/>
                          <a:cs typeface="Calibri" pitchFamily="34" charset="-120"/>
                        </a:rPr>
                        <a:t>Ion suppression</a:t>
                      </a:r>
                      <a:endParaRPr lang="en-US" sz="1300" dirty="0">
                        <a:latin typeface="Calibri" charset="0"/>
                        <a:ea typeface="Calibri" charset="0"/>
                        <a:cs typeface="Calibri" charset="0"/>
                      </a:endParaRPr>
                    </a:p>
                  </a:txBody>
                  <a:tcPr marL="67733" marR="67733" marT="50800" marB="50800" anchor="ctr">
                    <a:lnL w="6350" cap="flat" cmpd="sng" algn="ctr">
                      <a:solidFill>
                        <a:srgbClr val="C8D8D4"/>
                      </a:solidFill>
                      <a:prstDash val="solid"/>
                      <a:round/>
                      <a:headEnd type="none" w="med" len="med"/>
                      <a:tailEnd type="none" w="med" len="med"/>
                    </a:lnL>
                    <a:lnR w="6350" cap="flat" cmpd="sng" algn="ctr">
                      <a:solidFill>
                        <a:srgbClr val="C8D8D4"/>
                      </a:solidFill>
                      <a:prstDash val="solid"/>
                      <a:round/>
                      <a:headEnd type="none" w="med" len="med"/>
                      <a:tailEnd type="none" w="med" len="med"/>
                    </a:lnR>
                    <a:lnT w="6350" cap="flat" cmpd="sng" algn="ctr">
                      <a:solidFill>
                        <a:srgbClr val="C8D8D4"/>
                      </a:solidFill>
                      <a:prstDash val="solid"/>
                      <a:round/>
                      <a:headEnd type="none" w="med" len="med"/>
                      <a:tailEnd type="none" w="med" len="med"/>
                    </a:lnT>
                    <a:lnB w="6350" cap="flat" cmpd="sng" algn="ctr">
                      <a:solidFill>
                        <a:srgbClr val="C8D8D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3"/>
          <p:cNvSpPr/>
          <p:nvPr/>
        </p:nvSpPr>
        <p:spPr>
          <a:xfrm>
            <a:off x="609600" y="6242304"/>
            <a:ext cx="10972800" cy="512064"/>
          </a:xfrm>
          <a:prstGeom prst="rect">
            <a:avLst/>
          </a:prstGeom>
          <a:solidFill>
            <a:srgbClr val="0B2027"/>
          </a:solidFill>
          <a:ln/>
        </p:spPr>
        <p:txBody>
          <a:bodyPr/>
          <a:lstStyle/>
          <a:p>
            <a:endParaRPr lang="en-US" sz="2400"/>
          </a:p>
        </p:txBody>
      </p:sp>
      <p:sp>
        <p:nvSpPr>
          <p:cNvPr id="8" name="Text 4"/>
          <p:cNvSpPr/>
          <p:nvPr/>
        </p:nvSpPr>
        <p:spPr>
          <a:xfrm>
            <a:off x="853440" y="6242304"/>
            <a:ext cx="10485120" cy="512064"/>
          </a:xfrm>
          <a:prstGeom prst="rect">
            <a:avLst/>
          </a:prstGeom>
          <a:noFill/>
          <a:ln/>
        </p:spPr>
        <p:txBody>
          <a:bodyPr wrap="square" lIns="0" tIns="0" rIns="0" bIns="0" rtlCol="0" anchor="ctr"/>
          <a:lstStyle/>
          <a:p>
            <a:r>
              <a:rPr lang="en-US" sz="1400" i="1" dirty="0">
                <a:solidFill>
                  <a:srgbClr val="58E0C3"/>
                </a:solidFill>
                <a:latin typeface="Calibri" pitchFamily="34" charset="0"/>
                <a:ea typeface="Calibri" pitchFamily="34" charset="-122"/>
                <a:cs typeface="Calibri" pitchFamily="34" charset="-120"/>
              </a:rPr>
              <a:t>Key insight: These are not minor differences — they are fundamentally different measurement modalities with incompatible statistical assumptions.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828800"/>
          </a:xfrm>
          <a:prstGeom prst="rect">
            <a:avLst/>
          </a:prstGeom>
          <a:solidFill>
            <a:srgbClr val="0B2027"/>
          </a:solidFill>
          <a:ln/>
        </p:spPr>
        <p:txBody>
          <a:bodyPr/>
          <a:lstStyle/>
          <a:p>
            <a:endParaRPr lang="en-US" sz="2400"/>
          </a:p>
        </p:txBody>
      </p:sp>
      <p:pic>
        <p:nvPicPr>
          <p:cNvPr id="3" name="Image 0" descr="preencoded.png"/>
          <p:cNvPicPr>
            <a:picLocks noChangeAspect="1"/>
          </p:cNvPicPr>
          <p:nvPr/>
        </p:nvPicPr>
        <p:blipFill>
          <a:blip r:embed="rId3"/>
          <a:stretch>
            <a:fillRect/>
          </a:stretch>
        </p:blipFill>
        <p:spPr>
          <a:xfrm>
            <a:off x="731520" y="390144"/>
            <a:ext cx="585216" cy="585216"/>
          </a:xfrm>
          <a:prstGeom prst="rect">
            <a:avLst/>
          </a:prstGeom>
        </p:spPr>
      </p:pic>
      <p:sp>
        <p:nvSpPr>
          <p:cNvPr id="4" name="Text 1"/>
          <p:cNvSpPr/>
          <p:nvPr/>
        </p:nvSpPr>
        <p:spPr>
          <a:xfrm>
            <a:off x="1524000" y="219456"/>
            <a:ext cx="9997440" cy="792480"/>
          </a:xfrm>
          <a:prstGeom prst="rect">
            <a:avLst/>
          </a:prstGeom>
          <a:noFill/>
          <a:ln/>
        </p:spPr>
        <p:txBody>
          <a:bodyPr wrap="square" lIns="0" tIns="0" rIns="0" bIns="0" rtlCol="0" anchor="ctr"/>
          <a:lstStyle/>
          <a:p>
            <a:r>
              <a:rPr lang="en-US" sz="3467" b="1" dirty="0">
                <a:solidFill>
                  <a:srgbClr val="FFFFFF"/>
                </a:solidFill>
                <a:latin typeface="Georgia" pitchFamily="34" charset="0"/>
                <a:ea typeface="Georgia" pitchFamily="34" charset="-122"/>
                <a:cs typeface="Georgia" pitchFamily="34" charset="-120"/>
              </a:rPr>
              <a:t>Missing Data in Multiomics</a:t>
            </a:r>
            <a:endParaRPr lang="en-US" sz="3467" dirty="0"/>
          </a:p>
        </p:txBody>
      </p:sp>
      <p:sp>
        <p:nvSpPr>
          <p:cNvPr id="5" name="Text 2"/>
          <p:cNvSpPr/>
          <p:nvPr/>
        </p:nvSpPr>
        <p:spPr>
          <a:xfrm>
            <a:off x="1524000" y="950976"/>
            <a:ext cx="9997440" cy="512064"/>
          </a:xfrm>
          <a:prstGeom prst="rect">
            <a:avLst/>
          </a:prstGeom>
          <a:noFill/>
          <a:ln/>
        </p:spPr>
        <p:txBody>
          <a:bodyPr wrap="square" lIns="0" tIns="0" rIns="0" bIns="0" rtlCol="0" anchor="ctr"/>
          <a:lstStyle/>
          <a:p>
            <a:r>
              <a:rPr lang="en-US" sz="1733" i="1" dirty="0">
                <a:solidFill>
                  <a:srgbClr val="58E0C3"/>
                </a:solidFill>
                <a:latin typeface="Calibri" pitchFamily="34" charset="0"/>
                <a:ea typeface="Calibri" pitchFamily="34" charset="-122"/>
                <a:cs typeface="Calibri" pitchFamily="34" charset="-120"/>
              </a:rPr>
              <a:t>Missingness occurs at every level — features, samples, and entire modalities</a:t>
            </a:r>
            <a:endParaRPr lang="en-US" sz="1733" dirty="0"/>
          </a:p>
        </p:txBody>
      </p:sp>
      <p:sp>
        <p:nvSpPr>
          <p:cNvPr id="6" name="Shape 3"/>
          <p:cNvSpPr/>
          <p:nvPr/>
        </p:nvSpPr>
        <p:spPr>
          <a:xfrm>
            <a:off x="670560" y="1950720"/>
            <a:ext cx="3474720" cy="4815840"/>
          </a:xfrm>
          <a:prstGeom prst="rect">
            <a:avLst/>
          </a:prstGeom>
          <a:solidFill>
            <a:srgbClr val="FFFFFF"/>
          </a:solidFill>
          <a:ln/>
          <a:effectLst>
            <a:outerShdw blurRad="63500" dist="25400" dir="16200000" algn="bl" rotWithShape="0">
              <a:srgbClr val="C0C0C0">
                <a:alpha val="25000"/>
              </a:srgbClr>
            </a:outerShdw>
          </a:effectLst>
        </p:spPr>
        <p:txBody>
          <a:bodyPr/>
          <a:lstStyle/>
          <a:p>
            <a:endParaRPr lang="en-US" sz="2400"/>
          </a:p>
        </p:txBody>
      </p:sp>
      <p:sp>
        <p:nvSpPr>
          <p:cNvPr id="7" name="Shape 4"/>
          <p:cNvSpPr/>
          <p:nvPr/>
        </p:nvSpPr>
        <p:spPr>
          <a:xfrm>
            <a:off x="670560" y="1950720"/>
            <a:ext cx="3474720" cy="85344"/>
          </a:xfrm>
          <a:prstGeom prst="rect">
            <a:avLst/>
          </a:prstGeom>
          <a:solidFill>
            <a:srgbClr val="D94F5C"/>
          </a:solidFill>
          <a:ln/>
        </p:spPr>
        <p:txBody>
          <a:bodyPr/>
          <a:lstStyle/>
          <a:p>
            <a:endParaRPr lang="en-US" sz="2400"/>
          </a:p>
        </p:txBody>
      </p:sp>
      <p:pic>
        <p:nvPicPr>
          <p:cNvPr id="8" name="Image 1" descr="preencoded.png"/>
          <p:cNvPicPr>
            <a:picLocks noChangeAspect="1"/>
          </p:cNvPicPr>
          <p:nvPr/>
        </p:nvPicPr>
        <p:blipFill>
          <a:blip r:embed="rId4"/>
          <a:stretch>
            <a:fillRect/>
          </a:stretch>
        </p:blipFill>
        <p:spPr>
          <a:xfrm>
            <a:off x="890016" y="2194560"/>
            <a:ext cx="426720" cy="426720"/>
          </a:xfrm>
          <a:prstGeom prst="rect">
            <a:avLst/>
          </a:prstGeom>
        </p:spPr>
      </p:pic>
      <p:sp>
        <p:nvSpPr>
          <p:cNvPr id="9" name="Text 5"/>
          <p:cNvSpPr/>
          <p:nvPr/>
        </p:nvSpPr>
        <p:spPr>
          <a:xfrm>
            <a:off x="1426464" y="2133600"/>
            <a:ext cx="2499360" cy="365760"/>
          </a:xfrm>
          <a:prstGeom prst="rect">
            <a:avLst/>
          </a:prstGeom>
          <a:noFill/>
          <a:ln/>
        </p:spPr>
        <p:txBody>
          <a:bodyPr wrap="square" lIns="0" tIns="0" rIns="0" bIns="0" rtlCol="0" anchor="ctr"/>
          <a:lstStyle/>
          <a:p>
            <a:r>
              <a:rPr lang="en-US" sz="1733" b="1" dirty="0">
                <a:solidFill>
                  <a:srgbClr val="1A2B34"/>
                </a:solidFill>
                <a:latin typeface="Georgia" pitchFamily="34" charset="0"/>
                <a:ea typeface="Georgia" pitchFamily="34" charset="-122"/>
                <a:cs typeface="Georgia" pitchFamily="34" charset="-120"/>
              </a:rPr>
              <a:t>Feature-Level Dropout</a:t>
            </a:r>
            <a:endParaRPr lang="en-US" sz="1733" dirty="0"/>
          </a:p>
        </p:txBody>
      </p:sp>
      <p:sp>
        <p:nvSpPr>
          <p:cNvPr id="10" name="Text 6"/>
          <p:cNvSpPr/>
          <p:nvPr/>
        </p:nvSpPr>
        <p:spPr>
          <a:xfrm>
            <a:off x="1426464" y="2462784"/>
            <a:ext cx="2499360" cy="268224"/>
          </a:xfrm>
          <a:prstGeom prst="rect">
            <a:avLst/>
          </a:prstGeom>
          <a:noFill/>
          <a:ln/>
        </p:spPr>
        <p:txBody>
          <a:bodyPr wrap="square" lIns="0" tIns="0" rIns="0" bIns="0" rtlCol="0" anchor="ctr"/>
          <a:lstStyle/>
          <a:p>
            <a:r>
              <a:rPr lang="en-US" sz="1267" i="1" dirty="0">
                <a:solidFill>
                  <a:srgbClr val="D94F5C"/>
                </a:solidFill>
                <a:latin typeface="Calibri" pitchFamily="34" charset="0"/>
                <a:ea typeface="Calibri" pitchFamily="34" charset="-122"/>
                <a:cs typeface="Calibri" pitchFamily="34" charset="-120"/>
              </a:rPr>
              <a:t>Within a single omics layer</a:t>
            </a:r>
            <a:endParaRPr lang="en-US" sz="1267" dirty="0"/>
          </a:p>
        </p:txBody>
      </p:sp>
      <p:sp>
        <p:nvSpPr>
          <p:cNvPr id="11" name="Shape 7"/>
          <p:cNvSpPr/>
          <p:nvPr/>
        </p:nvSpPr>
        <p:spPr>
          <a:xfrm>
            <a:off x="853440" y="2901696"/>
            <a:ext cx="3108960" cy="304800"/>
          </a:xfrm>
          <a:prstGeom prst="rect">
            <a:avLst/>
          </a:prstGeom>
          <a:solidFill>
            <a:srgbClr val="D1EDE8"/>
          </a:solidFill>
          <a:ln/>
        </p:spPr>
        <p:txBody>
          <a:bodyPr/>
          <a:lstStyle/>
          <a:p>
            <a:endParaRPr lang="en-US" sz="2400"/>
          </a:p>
        </p:txBody>
      </p:sp>
      <p:sp>
        <p:nvSpPr>
          <p:cNvPr id="12" name="Text 8"/>
          <p:cNvSpPr/>
          <p:nvPr/>
        </p:nvSpPr>
        <p:spPr>
          <a:xfrm>
            <a:off x="914400" y="2901696"/>
            <a:ext cx="2987040" cy="304800"/>
          </a:xfrm>
          <a:prstGeom prst="rect">
            <a:avLst/>
          </a:prstGeom>
          <a:noFill/>
          <a:ln/>
        </p:spPr>
        <p:txBody>
          <a:bodyPr wrap="square" lIns="0" tIns="0" rIns="0" bIns="0" rtlCol="0" anchor="ctr"/>
          <a:lstStyle/>
          <a:p>
            <a:r>
              <a:rPr lang="en-US" sz="1200" b="1" dirty="0">
                <a:solidFill>
                  <a:srgbClr val="088395"/>
                </a:solidFill>
                <a:latin typeface="Georgia" pitchFamily="34" charset="0"/>
                <a:ea typeface="Georgia" pitchFamily="34" charset="-122"/>
                <a:cs typeface="Georgia" pitchFamily="34" charset="-120"/>
              </a:rPr>
              <a:t>scRNA-seq</a:t>
            </a:r>
            <a:endParaRPr lang="en-US" sz="1200" dirty="0"/>
          </a:p>
        </p:txBody>
      </p:sp>
      <p:sp>
        <p:nvSpPr>
          <p:cNvPr id="13" name="Text 9"/>
          <p:cNvSpPr/>
          <p:nvPr/>
        </p:nvSpPr>
        <p:spPr>
          <a:xfrm>
            <a:off x="914400" y="3243072"/>
            <a:ext cx="2987040" cy="670560"/>
          </a:xfrm>
          <a:prstGeom prst="rect">
            <a:avLst/>
          </a:prstGeom>
          <a:noFill/>
          <a:ln/>
        </p:spPr>
        <p:txBody>
          <a:bodyPr wrap="square" lIns="0" tIns="0" rIns="0" bIns="0" rtlCol="0" anchor="ctr"/>
          <a:lstStyle/>
          <a:p>
            <a:r>
              <a:rPr lang="en-US" sz="1200" dirty="0">
                <a:solidFill>
                  <a:srgbClr val="4A6670"/>
                </a:solidFill>
                <a:latin typeface="Calibri" pitchFamily="34" charset="0"/>
                <a:ea typeface="Calibri" pitchFamily="34" charset="-122"/>
                <a:cs typeface="Calibri" pitchFamily="34" charset="-120"/>
              </a:rPr>
              <a:t>10–45% of genes detected per cell; the rest are zeros from technical dropout or true absence</a:t>
            </a:r>
            <a:endParaRPr lang="en-US" sz="1200" dirty="0"/>
          </a:p>
        </p:txBody>
      </p:sp>
      <p:sp>
        <p:nvSpPr>
          <p:cNvPr id="14" name="Shape 10"/>
          <p:cNvSpPr/>
          <p:nvPr/>
        </p:nvSpPr>
        <p:spPr>
          <a:xfrm>
            <a:off x="853440" y="3974592"/>
            <a:ext cx="3108960" cy="304800"/>
          </a:xfrm>
          <a:prstGeom prst="rect">
            <a:avLst/>
          </a:prstGeom>
          <a:solidFill>
            <a:srgbClr val="D1EDE8"/>
          </a:solidFill>
          <a:ln/>
        </p:spPr>
        <p:txBody>
          <a:bodyPr/>
          <a:lstStyle/>
          <a:p>
            <a:endParaRPr lang="en-US" sz="2400"/>
          </a:p>
        </p:txBody>
      </p:sp>
      <p:sp>
        <p:nvSpPr>
          <p:cNvPr id="15" name="Text 11"/>
          <p:cNvSpPr/>
          <p:nvPr/>
        </p:nvSpPr>
        <p:spPr>
          <a:xfrm>
            <a:off x="914400" y="3974592"/>
            <a:ext cx="2987040" cy="304800"/>
          </a:xfrm>
          <a:prstGeom prst="rect">
            <a:avLst/>
          </a:prstGeom>
          <a:noFill/>
          <a:ln/>
        </p:spPr>
        <p:txBody>
          <a:bodyPr wrap="square" lIns="0" tIns="0" rIns="0" bIns="0" rtlCol="0" anchor="ctr"/>
          <a:lstStyle/>
          <a:p>
            <a:r>
              <a:rPr lang="en-US" sz="1200" b="1" dirty="0">
                <a:solidFill>
                  <a:srgbClr val="088395"/>
                </a:solidFill>
                <a:latin typeface="Georgia" pitchFamily="34" charset="0"/>
                <a:ea typeface="Georgia" pitchFamily="34" charset="-122"/>
                <a:cs typeface="Georgia" pitchFamily="34" charset="-120"/>
              </a:rPr>
              <a:t>scATAC-seq</a:t>
            </a:r>
            <a:endParaRPr lang="en-US" sz="1200" dirty="0"/>
          </a:p>
        </p:txBody>
      </p:sp>
      <p:sp>
        <p:nvSpPr>
          <p:cNvPr id="16" name="Text 12"/>
          <p:cNvSpPr/>
          <p:nvPr/>
        </p:nvSpPr>
        <p:spPr>
          <a:xfrm>
            <a:off x="914400" y="4315968"/>
            <a:ext cx="2987040" cy="670560"/>
          </a:xfrm>
          <a:prstGeom prst="rect">
            <a:avLst/>
          </a:prstGeom>
          <a:noFill/>
          <a:ln/>
        </p:spPr>
        <p:txBody>
          <a:bodyPr wrap="square" lIns="0" tIns="0" rIns="0" bIns="0" rtlCol="0" anchor="ctr"/>
          <a:lstStyle/>
          <a:p>
            <a:r>
              <a:rPr lang="en-US" sz="1200" dirty="0">
                <a:solidFill>
                  <a:srgbClr val="4A6670"/>
                </a:solidFill>
                <a:latin typeface="Calibri" pitchFamily="34" charset="0"/>
                <a:ea typeface="Calibri" pitchFamily="34" charset="-122"/>
                <a:cs typeface="Calibri" pitchFamily="34" charset="-120"/>
              </a:rPr>
              <a:t>Only 1–10% of accessible peaks detected per cell due to diploid DNA copy number</a:t>
            </a:r>
            <a:endParaRPr lang="en-US" sz="1200" dirty="0"/>
          </a:p>
        </p:txBody>
      </p:sp>
      <p:sp>
        <p:nvSpPr>
          <p:cNvPr id="17" name="Shape 13"/>
          <p:cNvSpPr/>
          <p:nvPr/>
        </p:nvSpPr>
        <p:spPr>
          <a:xfrm>
            <a:off x="853440" y="5047488"/>
            <a:ext cx="3108960" cy="304800"/>
          </a:xfrm>
          <a:prstGeom prst="rect">
            <a:avLst/>
          </a:prstGeom>
          <a:solidFill>
            <a:srgbClr val="D1EDE8"/>
          </a:solidFill>
          <a:ln/>
        </p:spPr>
        <p:txBody>
          <a:bodyPr/>
          <a:lstStyle/>
          <a:p>
            <a:endParaRPr lang="en-US" sz="2400"/>
          </a:p>
        </p:txBody>
      </p:sp>
      <p:sp>
        <p:nvSpPr>
          <p:cNvPr id="18" name="Text 14"/>
          <p:cNvSpPr/>
          <p:nvPr/>
        </p:nvSpPr>
        <p:spPr>
          <a:xfrm>
            <a:off x="914400" y="5047488"/>
            <a:ext cx="2987040" cy="304800"/>
          </a:xfrm>
          <a:prstGeom prst="rect">
            <a:avLst/>
          </a:prstGeom>
          <a:noFill/>
          <a:ln/>
        </p:spPr>
        <p:txBody>
          <a:bodyPr wrap="square" lIns="0" tIns="0" rIns="0" bIns="0" rtlCol="0" anchor="ctr"/>
          <a:lstStyle/>
          <a:p>
            <a:r>
              <a:rPr lang="en-US" sz="1200" b="1" dirty="0">
                <a:solidFill>
                  <a:srgbClr val="088395"/>
                </a:solidFill>
                <a:latin typeface="Georgia" pitchFamily="34" charset="0"/>
                <a:ea typeface="Georgia" pitchFamily="34" charset="-122"/>
                <a:cs typeface="Georgia" pitchFamily="34" charset="-120"/>
              </a:rPr>
              <a:t>Impact</a:t>
            </a:r>
            <a:endParaRPr lang="en-US" sz="1200" dirty="0"/>
          </a:p>
        </p:txBody>
      </p:sp>
      <p:sp>
        <p:nvSpPr>
          <p:cNvPr id="19" name="Text 15"/>
          <p:cNvSpPr/>
          <p:nvPr/>
        </p:nvSpPr>
        <p:spPr>
          <a:xfrm>
            <a:off x="914400" y="5388864"/>
            <a:ext cx="2987040" cy="670560"/>
          </a:xfrm>
          <a:prstGeom prst="rect">
            <a:avLst/>
          </a:prstGeom>
          <a:noFill/>
          <a:ln/>
        </p:spPr>
        <p:txBody>
          <a:bodyPr wrap="square" lIns="0" tIns="0" rIns="0" bIns="0" rtlCol="0" anchor="ctr"/>
          <a:lstStyle/>
          <a:p>
            <a:r>
              <a:rPr lang="en-US" sz="1200" dirty="0">
                <a:solidFill>
                  <a:srgbClr val="4A6670"/>
                </a:solidFill>
                <a:latin typeface="Calibri" pitchFamily="34" charset="0"/>
                <a:ea typeface="Calibri" pitchFamily="34" charset="-122"/>
                <a:cs typeface="Calibri" pitchFamily="34" charset="-120"/>
              </a:rPr>
              <a:t>Gene-gene correlations become unreliable; clustering struggles to find true neighborhoods</a:t>
            </a:r>
            <a:endParaRPr lang="en-US" sz="1200" dirty="0"/>
          </a:p>
        </p:txBody>
      </p:sp>
      <p:sp>
        <p:nvSpPr>
          <p:cNvPr id="20" name="Text 16"/>
          <p:cNvSpPr/>
          <p:nvPr/>
        </p:nvSpPr>
        <p:spPr>
          <a:xfrm>
            <a:off x="853440" y="6303264"/>
            <a:ext cx="3108960" cy="426720"/>
          </a:xfrm>
          <a:prstGeom prst="rect">
            <a:avLst/>
          </a:prstGeom>
          <a:noFill/>
          <a:ln/>
        </p:spPr>
        <p:txBody>
          <a:bodyPr wrap="square" lIns="0" tIns="0" rIns="0" bIns="0" rtlCol="0" anchor="b"/>
          <a:lstStyle/>
          <a:p>
            <a:r>
              <a:rPr lang="en-US" sz="1000" i="1" dirty="0">
                <a:solidFill>
                  <a:srgbClr val="4A6670"/>
                </a:solidFill>
                <a:latin typeface="Calibri" pitchFamily="34" charset="0"/>
                <a:ea typeface="Calibri" pitchFamily="34" charset="-122"/>
                <a:cs typeface="Calibri" pitchFamily="34" charset="-120"/>
              </a:rPr>
              <a:t>Chen et al. Genome Biology 2019</a:t>
            </a:r>
            <a:endParaRPr lang="en-US" sz="1000" dirty="0"/>
          </a:p>
          <a:p>
            <a:r>
              <a:rPr lang="en-US" sz="1000" i="1" dirty="0">
                <a:solidFill>
                  <a:srgbClr val="4A6670"/>
                </a:solidFill>
                <a:latin typeface="Calibri" pitchFamily="34" charset="0"/>
                <a:ea typeface="Calibri" pitchFamily="34" charset="-122"/>
                <a:cs typeface="Calibri" pitchFamily="34" charset="-120"/>
              </a:rPr>
              <a:t>Li et al. Nature Communications 2021</a:t>
            </a:r>
            <a:endParaRPr lang="en-US" sz="1000" dirty="0"/>
          </a:p>
        </p:txBody>
      </p:sp>
      <p:sp>
        <p:nvSpPr>
          <p:cNvPr id="21" name="Shape 17"/>
          <p:cNvSpPr/>
          <p:nvPr/>
        </p:nvSpPr>
        <p:spPr>
          <a:xfrm>
            <a:off x="4572000" y="1950720"/>
            <a:ext cx="3474720" cy="4815840"/>
          </a:xfrm>
          <a:prstGeom prst="rect">
            <a:avLst/>
          </a:prstGeom>
          <a:solidFill>
            <a:srgbClr val="FFFFFF"/>
          </a:solidFill>
          <a:ln/>
          <a:effectLst>
            <a:outerShdw blurRad="63500" dist="25400" dir="16200000" algn="bl" rotWithShape="0">
              <a:srgbClr val="C0C0C0">
                <a:alpha val="25000"/>
              </a:srgbClr>
            </a:outerShdw>
          </a:effectLst>
        </p:spPr>
        <p:txBody>
          <a:bodyPr/>
          <a:lstStyle/>
          <a:p>
            <a:endParaRPr lang="en-US" sz="2400"/>
          </a:p>
        </p:txBody>
      </p:sp>
      <p:sp>
        <p:nvSpPr>
          <p:cNvPr id="22" name="Shape 18"/>
          <p:cNvSpPr/>
          <p:nvPr/>
        </p:nvSpPr>
        <p:spPr>
          <a:xfrm>
            <a:off x="4572000" y="1950720"/>
            <a:ext cx="3474720" cy="85344"/>
          </a:xfrm>
          <a:prstGeom prst="rect">
            <a:avLst/>
          </a:prstGeom>
          <a:solidFill>
            <a:srgbClr val="E8963A"/>
          </a:solidFill>
          <a:ln/>
        </p:spPr>
        <p:txBody>
          <a:bodyPr/>
          <a:lstStyle/>
          <a:p>
            <a:endParaRPr lang="en-US" sz="2400"/>
          </a:p>
        </p:txBody>
      </p:sp>
      <p:pic>
        <p:nvPicPr>
          <p:cNvPr id="23" name="Image 2" descr="preencoded.png"/>
          <p:cNvPicPr>
            <a:picLocks noChangeAspect="1"/>
          </p:cNvPicPr>
          <p:nvPr/>
        </p:nvPicPr>
        <p:blipFill>
          <a:blip r:embed="rId5"/>
          <a:stretch>
            <a:fillRect/>
          </a:stretch>
        </p:blipFill>
        <p:spPr>
          <a:xfrm>
            <a:off x="4791456" y="2194560"/>
            <a:ext cx="426720" cy="426720"/>
          </a:xfrm>
          <a:prstGeom prst="rect">
            <a:avLst/>
          </a:prstGeom>
        </p:spPr>
      </p:pic>
      <p:sp>
        <p:nvSpPr>
          <p:cNvPr id="24" name="Text 19"/>
          <p:cNvSpPr/>
          <p:nvPr/>
        </p:nvSpPr>
        <p:spPr>
          <a:xfrm>
            <a:off x="5327904" y="2133600"/>
            <a:ext cx="2499360" cy="365760"/>
          </a:xfrm>
          <a:prstGeom prst="rect">
            <a:avLst/>
          </a:prstGeom>
          <a:noFill/>
          <a:ln/>
        </p:spPr>
        <p:txBody>
          <a:bodyPr wrap="square" lIns="0" tIns="0" rIns="0" bIns="0" rtlCol="0" anchor="ctr"/>
          <a:lstStyle/>
          <a:p>
            <a:r>
              <a:rPr lang="en-US" sz="1733" b="1" dirty="0">
                <a:solidFill>
                  <a:srgbClr val="1A2B34"/>
                </a:solidFill>
                <a:latin typeface="Georgia" pitchFamily="34" charset="0"/>
                <a:ea typeface="Georgia" pitchFamily="34" charset="-122"/>
                <a:cs typeface="Georgia" pitchFamily="34" charset="-120"/>
              </a:rPr>
              <a:t>Sample-Level Missingness</a:t>
            </a:r>
            <a:endParaRPr lang="en-US" sz="1733" dirty="0"/>
          </a:p>
        </p:txBody>
      </p:sp>
      <p:sp>
        <p:nvSpPr>
          <p:cNvPr id="25" name="Text 20"/>
          <p:cNvSpPr/>
          <p:nvPr/>
        </p:nvSpPr>
        <p:spPr>
          <a:xfrm>
            <a:off x="5327904" y="2462784"/>
            <a:ext cx="2499360" cy="268224"/>
          </a:xfrm>
          <a:prstGeom prst="rect">
            <a:avLst/>
          </a:prstGeom>
          <a:noFill/>
          <a:ln/>
        </p:spPr>
        <p:txBody>
          <a:bodyPr wrap="square" lIns="0" tIns="0" rIns="0" bIns="0" rtlCol="0" anchor="ctr"/>
          <a:lstStyle/>
          <a:p>
            <a:r>
              <a:rPr lang="en-US" sz="1267" i="1" dirty="0">
                <a:solidFill>
                  <a:srgbClr val="E8963A"/>
                </a:solidFill>
                <a:latin typeface="Calibri" pitchFamily="34" charset="0"/>
                <a:ea typeface="Calibri" pitchFamily="34" charset="-122"/>
                <a:cs typeface="Calibri" pitchFamily="34" charset="-120"/>
              </a:rPr>
              <a:t>Across omics layers</a:t>
            </a:r>
            <a:endParaRPr lang="en-US" sz="1267" dirty="0"/>
          </a:p>
        </p:txBody>
      </p:sp>
      <p:sp>
        <p:nvSpPr>
          <p:cNvPr id="26" name="Shape 21"/>
          <p:cNvSpPr/>
          <p:nvPr/>
        </p:nvSpPr>
        <p:spPr>
          <a:xfrm>
            <a:off x="4754880" y="2901696"/>
            <a:ext cx="3108960" cy="304800"/>
          </a:xfrm>
          <a:prstGeom prst="rect">
            <a:avLst/>
          </a:prstGeom>
          <a:solidFill>
            <a:srgbClr val="D1EDE8"/>
          </a:solidFill>
          <a:ln/>
        </p:spPr>
        <p:txBody>
          <a:bodyPr/>
          <a:lstStyle/>
          <a:p>
            <a:endParaRPr lang="en-US" sz="2400"/>
          </a:p>
        </p:txBody>
      </p:sp>
      <p:sp>
        <p:nvSpPr>
          <p:cNvPr id="27" name="Text 22"/>
          <p:cNvSpPr/>
          <p:nvPr/>
        </p:nvSpPr>
        <p:spPr>
          <a:xfrm>
            <a:off x="4815840" y="2901696"/>
            <a:ext cx="2987040" cy="304800"/>
          </a:xfrm>
          <a:prstGeom prst="rect">
            <a:avLst/>
          </a:prstGeom>
          <a:noFill/>
          <a:ln/>
        </p:spPr>
        <p:txBody>
          <a:bodyPr wrap="square" lIns="0" tIns="0" rIns="0" bIns="0" rtlCol="0" anchor="ctr"/>
          <a:lstStyle/>
          <a:p>
            <a:r>
              <a:rPr lang="en-US" sz="1200" b="1" dirty="0">
                <a:solidFill>
                  <a:srgbClr val="088395"/>
                </a:solidFill>
                <a:latin typeface="Georgia" pitchFamily="34" charset="0"/>
                <a:ea typeface="Georgia" pitchFamily="34" charset="-122"/>
                <a:cs typeface="Georgia" pitchFamily="34" charset="-120"/>
              </a:rPr>
              <a:t>Unmatched cohorts</a:t>
            </a:r>
            <a:endParaRPr lang="en-US" sz="1200" dirty="0"/>
          </a:p>
        </p:txBody>
      </p:sp>
      <p:sp>
        <p:nvSpPr>
          <p:cNvPr id="28" name="Text 23"/>
          <p:cNvSpPr/>
          <p:nvPr/>
        </p:nvSpPr>
        <p:spPr>
          <a:xfrm>
            <a:off x="4815840" y="3243072"/>
            <a:ext cx="2987040" cy="670560"/>
          </a:xfrm>
          <a:prstGeom prst="rect">
            <a:avLst/>
          </a:prstGeom>
          <a:noFill/>
          <a:ln/>
        </p:spPr>
        <p:txBody>
          <a:bodyPr wrap="square" lIns="0" tIns="0" rIns="0" bIns="0" rtlCol="0" anchor="ctr"/>
          <a:lstStyle/>
          <a:p>
            <a:r>
              <a:rPr lang="en-US" sz="1200" dirty="0">
                <a:solidFill>
                  <a:srgbClr val="4A6670"/>
                </a:solidFill>
                <a:latin typeface="Calibri" pitchFamily="34" charset="0"/>
                <a:ea typeface="Calibri" pitchFamily="34" charset="-122"/>
                <a:cs typeface="Calibri" pitchFamily="34" charset="-120"/>
              </a:rPr>
              <a:t>RNA-seq profiled on 500 patients, proteomics on only 200 — overlapping set may be just 120</a:t>
            </a:r>
            <a:endParaRPr lang="en-US" sz="1200" dirty="0"/>
          </a:p>
        </p:txBody>
      </p:sp>
      <p:sp>
        <p:nvSpPr>
          <p:cNvPr id="29" name="Shape 24"/>
          <p:cNvSpPr/>
          <p:nvPr/>
        </p:nvSpPr>
        <p:spPr>
          <a:xfrm>
            <a:off x="4754880" y="3974592"/>
            <a:ext cx="3108960" cy="304800"/>
          </a:xfrm>
          <a:prstGeom prst="rect">
            <a:avLst/>
          </a:prstGeom>
          <a:solidFill>
            <a:srgbClr val="D1EDE8"/>
          </a:solidFill>
          <a:ln/>
        </p:spPr>
        <p:txBody>
          <a:bodyPr/>
          <a:lstStyle/>
          <a:p>
            <a:endParaRPr lang="en-US" sz="2400"/>
          </a:p>
        </p:txBody>
      </p:sp>
      <p:sp>
        <p:nvSpPr>
          <p:cNvPr id="30" name="Text 25"/>
          <p:cNvSpPr/>
          <p:nvPr/>
        </p:nvSpPr>
        <p:spPr>
          <a:xfrm>
            <a:off x="4815840" y="3974592"/>
            <a:ext cx="2987040" cy="304800"/>
          </a:xfrm>
          <a:prstGeom prst="rect">
            <a:avLst/>
          </a:prstGeom>
          <a:noFill/>
          <a:ln/>
        </p:spPr>
        <p:txBody>
          <a:bodyPr wrap="square" lIns="0" tIns="0" rIns="0" bIns="0" rtlCol="0" anchor="ctr"/>
          <a:lstStyle/>
          <a:p>
            <a:r>
              <a:rPr lang="en-US" sz="1200" b="1" dirty="0">
                <a:solidFill>
                  <a:srgbClr val="088395"/>
                </a:solidFill>
                <a:latin typeface="Georgia" pitchFamily="34" charset="0"/>
                <a:ea typeface="Georgia" pitchFamily="34" charset="-122"/>
                <a:cs typeface="Georgia" pitchFamily="34" charset="-120"/>
              </a:rPr>
              <a:t>Paired vs. unpaired</a:t>
            </a:r>
            <a:endParaRPr lang="en-US" sz="1200" dirty="0"/>
          </a:p>
        </p:txBody>
      </p:sp>
      <p:sp>
        <p:nvSpPr>
          <p:cNvPr id="31" name="Text 26"/>
          <p:cNvSpPr/>
          <p:nvPr/>
        </p:nvSpPr>
        <p:spPr>
          <a:xfrm>
            <a:off x="4815840" y="4315968"/>
            <a:ext cx="2987040" cy="670560"/>
          </a:xfrm>
          <a:prstGeom prst="rect">
            <a:avLst/>
          </a:prstGeom>
          <a:noFill/>
          <a:ln/>
        </p:spPr>
        <p:txBody>
          <a:bodyPr wrap="square" lIns="0" tIns="0" rIns="0" bIns="0" rtlCol="0" anchor="ctr"/>
          <a:lstStyle/>
          <a:p>
            <a:r>
              <a:rPr lang="en-US" sz="1200" dirty="0">
                <a:solidFill>
                  <a:srgbClr val="4A6670"/>
                </a:solidFill>
                <a:latin typeface="Calibri" pitchFamily="34" charset="0"/>
                <a:ea typeface="Calibri" pitchFamily="34" charset="-122"/>
                <a:cs typeface="Calibri" pitchFamily="34" charset="-120"/>
              </a:rPr>
              <a:t>10x Multiome gives matched RNA + ATAC per cell; most studies have separate profiling batches</a:t>
            </a:r>
            <a:endParaRPr lang="en-US" sz="1200" dirty="0"/>
          </a:p>
        </p:txBody>
      </p:sp>
      <p:sp>
        <p:nvSpPr>
          <p:cNvPr id="32" name="Shape 27"/>
          <p:cNvSpPr/>
          <p:nvPr/>
        </p:nvSpPr>
        <p:spPr>
          <a:xfrm>
            <a:off x="4754880" y="5047488"/>
            <a:ext cx="3108960" cy="304800"/>
          </a:xfrm>
          <a:prstGeom prst="rect">
            <a:avLst/>
          </a:prstGeom>
          <a:solidFill>
            <a:srgbClr val="D1EDE8"/>
          </a:solidFill>
          <a:ln/>
        </p:spPr>
        <p:txBody>
          <a:bodyPr/>
          <a:lstStyle/>
          <a:p>
            <a:endParaRPr lang="en-US" sz="2400"/>
          </a:p>
        </p:txBody>
      </p:sp>
      <p:sp>
        <p:nvSpPr>
          <p:cNvPr id="33" name="Text 28"/>
          <p:cNvSpPr/>
          <p:nvPr/>
        </p:nvSpPr>
        <p:spPr>
          <a:xfrm>
            <a:off x="4815840" y="5047488"/>
            <a:ext cx="2987040" cy="304800"/>
          </a:xfrm>
          <a:prstGeom prst="rect">
            <a:avLst/>
          </a:prstGeom>
          <a:noFill/>
          <a:ln/>
        </p:spPr>
        <p:txBody>
          <a:bodyPr wrap="square" lIns="0" tIns="0" rIns="0" bIns="0" rtlCol="0" anchor="ctr"/>
          <a:lstStyle/>
          <a:p>
            <a:r>
              <a:rPr lang="en-US" sz="1200" b="1" dirty="0">
                <a:solidFill>
                  <a:srgbClr val="088395"/>
                </a:solidFill>
                <a:latin typeface="Georgia" pitchFamily="34" charset="0"/>
                <a:ea typeface="Georgia" pitchFamily="34" charset="-122"/>
                <a:cs typeface="Georgia" pitchFamily="34" charset="-120"/>
              </a:rPr>
              <a:t>Impact</a:t>
            </a:r>
            <a:endParaRPr lang="en-US" sz="1200" dirty="0"/>
          </a:p>
        </p:txBody>
      </p:sp>
      <p:sp>
        <p:nvSpPr>
          <p:cNvPr id="34" name="Text 29"/>
          <p:cNvSpPr/>
          <p:nvPr/>
        </p:nvSpPr>
        <p:spPr>
          <a:xfrm>
            <a:off x="4815840" y="5388864"/>
            <a:ext cx="2987040" cy="670560"/>
          </a:xfrm>
          <a:prstGeom prst="rect">
            <a:avLst/>
          </a:prstGeom>
          <a:noFill/>
          <a:ln/>
        </p:spPr>
        <p:txBody>
          <a:bodyPr wrap="square" lIns="0" tIns="0" rIns="0" bIns="0" rtlCol="0" anchor="ctr"/>
          <a:lstStyle/>
          <a:p>
            <a:r>
              <a:rPr lang="en-US" sz="1200" dirty="0">
                <a:solidFill>
                  <a:srgbClr val="4A6670"/>
                </a:solidFill>
                <a:latin typeface="Calibri" pitchFamily="34" charset="0"/>
                <a:ea typeface="Calibri" pitchFamily="34" charset="-122"/>
                <a:cs typeface="Calibri" pitchFamily="34" charset="-120"/>
              </a:rPr>
              <a:t>Diagonal integration needed; power drops; per-cell cross-modal inference blocked</a:t>
            </a:r>
            <a:endParaRPr lang="en-US" sz="1200" dirty="0"/>
          </a:p>
        </p:txBody>
      </p:sp>
      <p:sp>
        <p:nvSpPr>
          <p:cNvPr id="35" name="Text 30"/>
          <p:cNvSpPr/>
          <p:nvPr/>
        </p:nvSpPr>
        <p:spPr>
          <a:xfrm>
            <a:off x="4754880" y="6303264"/>
            <a:ext cx="3108960" cy="426720"/>
          </a:xfrm>
          <a:prstGeom prst="rect">
            <a:avLst/>
          </a:prstGeom>
          <a:noFill/>
          <a:ln/>
        </p:spPr>
        <p:txBody>
          <a:bodyPr wrap="square" lIns="0" tIns="0" rIns="0" bIns="0" rtlCol="0" anchor="b"/>
          <a:lstStyle/>
          <a:p>
            <a:r>
              <a:rPr lang="en-US" sz="1000" i="1" dirty="0">
                <a:solidFill>
                  <a:srgbClr val="4A6670"/>
                </a:solidFill>
                <a:latin typeface="Calibri" pitchFamily="34" charset="0"/>
                <a:ea typeface="Calibri" pitchFamily="34" charset="-122"/>
                <a:cs typeface="Calibri" pitchFamily="34" charset="-120"/>
              </a:rPr>
              <a:t>Heumos et al. Mol Sys Biol 2025</a:t>
            </a:r>
            <a:endParaRPr lang="en-US" sz="1000" dirty="0"/>
          </a:p>
          <a:p>
            <a:r>
              <a:rPr lang="en-US" sz="1000" i="1" dirty="0">
                <a:solidFill>
                  <a:srgbClr val="4A6670"/>
                </a:solidFill>
                <a:latin typeface="Calibri" pitchFamily="34" charset="0"/>
                <a:ea typeface="Calibri" pitchFamily="34" charset="-122"/>
                <a:cs typeface="Calibri" pitchFamily="34" charset="-120"/>
              </a:rPr>
              <a:t>Argelaguet et al. Nat Methods 2021</a:t>
            </a:r>
            <a:endParaRPr lang="en-US" sz="1000" dirty="0"/>
          </a:p>
        </p:txBody>
      </p:sp>
      <p:sp>
        <p:nvSpPr>
          <p:cNvPr id="36" name="Shape 31"/>
          <p:cNvSpPr/>
          <p:nvPr/>
        </p:nvSpPr>
        <p:spPr>
          <a:xfrm>
            <a:off x="8473440" y="1950720"/>
            <a:ext cx="3474720" cy="4815840"/>
          </a:xfrm>
          <a:prstGeom prst="rect">
            <a:avLst/>
          </a:prstGeom>
          <a:solidFill>
            <a:srgbClr val="FFFFFF"/>
          </a:solidFill>
          <a:ln/>
          <a:effectLst>
            <a:outerShdw blurRad="63500" dist="25400" dir="16200000" algn="bl" rotWithShape="0">
              <a:srgbClr val="C0C0C0">
                <a:alpha val="25000"/>
              </a:srgbClr>
            </a:outerShdw>
          </a:effectLst>
        </p:spPr>
        <p:txBody>
          <a:bodyPr/>
          <a:lstStyle/>
          <a:p>
            <a:endParaRPr lang="en-US" sz="2400"/>
          </a:p>
        </p:txBody>
      </p:sp>
      <p:sp>
        <p:nvSpPr>
          <p:cNvPr id="37" name="Shape 32"/>
          <p:cNvSpPr/>
          <p:nvPr/>
        </p:nvSpPr>
        <p:spPr>
          <a:xfrm>
            <a:off x="8473440" y="1950720"/>
            <a:ext cx="3474720" cy="85344"/>
          </a:xfrm>
          <a:prstGeom prst="rect">
            <a:avLst/>
          </a:prstGeom>
          <a:solidFill>
            <a:srgbClr val="6B5B95"/>
          </a:solidFill>
          <a:ln/>
        </p:spPr>
        <p:txBody>
          <a:bodyPr/>
          <a:lstStyle/>
          <a:p>
            <a:endParaRPr lang="en-US" sz="2400"/>
          </a:p>
        </p:txBody>
      </p:sp>
      <p:pic>
        <p:nvPicPr>
          <p:cNvPr id="38" name="Image 3" descr="preencoded.png"/>
          <p:cNvPicPr>
            <a:picLocks noChangeAspect="1"/>
          </p:cNvPicPr>
          <p:nvPr/>
        </p:nvPicPr>
        <p:blipFill>
          <a:blip r:embed="rId6"/>
          <a:stretch>
            <a:fillRect/>
          </a:stretch>
        </p:blipFill>
        <p:spPr>
          <a:xfrm>
            <a:off x="8692896" y="2194560"/>
            <a:ext cx="426720" cy="426720"/>
          </a:xfrm>
          <a:prstGeom prst="rect">
            <a:avLst/>
          </a:prstGeom>
        </p:spPr>
      </p:pic>
      <p:sp>
        <p:nvSpPr>
          <p:cNvPr id="39" name="Text 33"/>
          <p:cNvSpPr/>
          <p:nvPr/>
        </p:nvSpPr>
        <p:spPr>
          <a:xfrm>
            <a:off x="9229344" y="2133600"/>
            <a:ext cx="2499360" cy="365760"/>
          </a:xfrm>
          <a:prstGeom prst="rect">
            <a:avLst/>
          </a:prstGeom>
          <a:noFill/>
          <a:ln/>
        </p:spPr>
        <p:txBody>
          <a:bodyPr wrap="square" lIns="0" tIns="0" rIns="0" bIns="0" rtlCol="0" anchor="ctr"/>
          <a:lstStyle/>
          <a:p>
            <a:r>
              <a:rPr lang="en-US" sz="1733" b="1" dirty="0">
                <a:solidFill>
                  <a:srgbClr val="1A2B34"/>
                </a:solidFill>
                <a:latin typeface="Georgia" pitchFamily="34" charset="0"/>
                <a:ea typeface="Georgia" pitchFamily="34" charset="-122"/>
                <a:cs typeface="Georgia" pitchFamily="34" charset="-120"/>
              </a:rPr>
              <a:t>Modality-Level Absence</a:t>
            </a:r>
            <a:endParaRPr lang="en-US" sz="1733" dirty="0"/>
          </a:p>
        </p:txBody>
      </p:sp>
      <p:sp>
        <p:nvSpPr>
          <p:cNvPr id="40" name="Text 34"/>
          <p:cNvSpPr/>
          <p:nvPr/>
        </p:nvSpPr>
        <p:spPr>
          <a:xfrm>
            <a:off x="9229344" y="2462784"/>
            <a:ext cx="2499360" cy="268224"/>
          </a:xfrm>
          <a:prstGeom prst="rect">
            <a:avLst/>
          </a:prstGeom>
          <a:noFill/>
          <a:ln/>
        </p:spPr>
        <p:txBody>
          <a:bodyPr wrap="square" lIns="0" tIns="0" rIns="0" bIns="0" rtlCol="0" anchor="ctr"/>
          <a:lstStyle/>
          <a:p>
            <a:r>
              <a:rPr lang="en-US" sz="1267" i="1" dirty="0">
                <a:solidFill>
                  <a:srgbClr val="6B5B95"/>
                </a:solidFill>
                <a:latin typeface="Calibri" pitchFamily="34" charset="0"/>
                <a:ea typeface="Calibri" pitchFamily="34" charset="-122"/>
                <a:cs typeface="Calibri" pitchFamily="34" charset="-120"/>
              </a:rPr>
              <a:t>Entire omics layers missing</a:t>
            </a:r>
            <a:endParaRPr lang="en-US" sz="1267" dirty="0"/>
          </a:p>
        </p:txBody>
      </p:sp>
      <p:sp>
        <p:nvSpPr>
          <p:cNvPr id="41" name="Shape 35"/>
          <p:cNvSpPr/>
          <p:nvPr/>
        </p:nvSpPr>
        <p:spPr>
          <a:xfrm>
            <a:off x="8656320" y="2901696"/>
            <a:ext cx="3108960" cy="304800"/>
          </a:xfrm>
          <a:prstGeom prst="rect">
            <a:avLst/>
          </a:prstGeom>
          <a:solidFill>
            <a:srgbClr val="D1EDE8"/>
          </a:solidFill>
          <a:ln/>
        </p:spPr>
        <p:txBody>
          <a:bodyPr/>
          <a:lstStyle/>
          <a:p>
            <a:endParaRPr lang="en-US" sz="2400"/>
          </a:p>
        </p:txBody>
      </p:sp>
      <p:sp>
        <p:nvSpPr>
          <p:cNvPr id="42" name="Text 36"/>
          <p:cNvSpPr/>
          <p:nvPr/>
        </p:nvSpPr>
        <p:spPr>
          <a:xfrm>
            <a:off x="8717280" y="2901696"/>
            <a:ext cx="2987040" cy="304800"/>
          </a:xfrm>
          <a:prstGeom prst="rect">
            <a:avLst/>
          </a:prstGeom>
          <a:noFill/>
          <a:ln/>
        </p:spPr>
        <p:txBody>
          <a:bodyPr wrap="square" lIns="0" tIns="0" rIns="0" bIns="0" rtlCol="0" anchor="ctr"/>
          <a:lstStyle/>
          <a:p>
            <a:r>
              <a:rPr lang="en-US" sz="1200" b="1" dirty="0">
                <a:solidFill>
                  <a:srgbClr val="088395"/>
                </a:solidFill>
                <a:latin typeface="Georgia" pitchFamily="34" charset="0"/>
                <a:ea typeface="Georgia" pitchFamily="34" charset="-122"/>
                <a:cs typeface="Georgia" pitchFamily="34" charset="-120"/>
              </a:rPr>
              <a:t>Cost constraints</a:t>
            </a:r>
            <a:endParaRPr lang="en-US" sz="1200" dirty="0"/>
          </a:p>
        </p:txBody>
      </p:sp>
      <p:sp>
        <p:nvSpPr>
          <p:cNvPr id="43" name="Text 37"/>
          <p:cNvSpPr/>
          <p:nvPr/>
        </p:nvSpPr>
        <p:spPr>
          <a:xfrm>
            <a:off x="8717280" y="3243072"/>
            <a:ext cx="2987040" cy="670560"/>
          </a:xfrm>
          <a:prstGeom prst="rect">
            <a:avLst/>
          </a:prstGeom>
          <a:noFill/>
          <a:ln/>
        </p:spPr>
        <p:txBody>
          <a:bodyPr wrap="square" lIns="0" tIns="0" rIns="0" bIns="0" rtlCol="0" anchor="ctr"/>
          <a:lstStyle/>
          <a:p>
            <a:r>
              <a:rPr lang="en-US" sz="1200" dirty="0">
                <a:solidFill>
                  <a:srgbClr val="4A6670"/>
                </a:solidFill>
                <a:latin typeface="Calibri" pitchFamily="34" charset="0"/>
                <a:ea typeface="Calibri" pitchFamily="34" charset="-122"/>
                <a:cs typeface="Calibri" pitchFamily="34" charset="-120"/>
              </a:rPr>
              <a:t>A study may have WGS + RNA-seq but cannot afford phosphoproteomics or spatial transcriptomics</a:t>
            </a:r>
            <a:endParaRPr lang="en-US" sz="1200" dirty="0"/>
          </a:p>
        </p:txBody>
      </p:sp>
      <p:sp>
        <p:nvSpPr>
          <p:cNvPr id="44" name="Shape 38"/>
          <p:cNvSpPr/>
          <p:nvPr/>
        </p:nvSpPr>
        <p:spPr>
          <a:xfrm>
            <a:off x="8656320" y="3974592"/>
            <a:ext cx="3108960" cy="304800"/>
          </a:xfrm>
          <a:prstGeom prst="rect">
            <a:avLst/>
          </a:prstGeom>
          <a:solidFill>
            <a:srgbClr val="D1EDE8"/>
          </a:solidFill>
          <a:ln/>
        </p:spPr>
        <p:txBody>
          <a:bodyPr/>
          <a:lstStyle/>
          <a:p>
            <a:endParaRPr lang="en-US" sz="2400"/>
          </a:p>
        </p:txBody>
      </p:sp>
      <p:sp>
        <p:nvSpPr>
          <p:cNvPr id="45" name="Text 39"/>
          <p:cNvSpPr/>
          <p:nvPr/>
        </p:nvSpPr>
        <p:spPr>
          <a:xfrm>
            <a:off x="8717280" y="3974592"/>
            <a:ext cx="2987040" cy="304800"/>
          </a:xfrm>
          <a:prstGeom prst="rect">
            <a:avLst/>
          </a:prstGeom>
          <a:noFill/>
          <a:ln/>
        </p:spPr>
        <p:txBody>
          <a:bodyPr wrap="square" lIns="0" tIns="0" rIns="0" bIns="0" rtlCol="0" anchor="ctr"/>
          <a:lstStyle/>
          <a:p>
            <a:r>
              <a:rPr lang="en-US" sz="1200" b="1" dirty="0">
                <a:solidFill>
                  <a:srgbClr val="088395"/>
                </a:solidFill>
                <a:latin typeface="Georgia" pitchFamily="34" charset="0"/>
                <a:ea typeface="Georgia" pitchFamily="34" charset="-122"/>
                <a:cs typeface="Georgia" pitchFamily="34" charset="-120"/>
              </a:rPr>
              <a:t>Tissue limitations</a:t>
            </a:r>
            <a:endParaRPr lang="en-US" sz="1200" dirty="0"/>
          </a:p>
        </p:txBody>
      </p:sp>
      <p:sp>
        <p:nvSpPr>
          <p:cNvPr id="46" name="Text 40"/>
          <p:cNvSpPr/>
          <p:nvPr/>
        </p:nvSpPr>
        <p:spPr>
          <a:xfrm>
            <a:off x="8717280" y="4315968"/>
            <a:ext cx="2987040" cy="670560"/>
          </a:xfrm>
          <a:prstGeom prst="rect">
            <a:avLst/>
          </a:prstGeom>
          <a:noFill/>
          <a:ln/>
        </p:spPr>
        <p:txBody>
          <a:bodyPr wrap="square" lIns="0" tIns="0" rIns="0" bIns="0" rtlCol="0" anchor="ctr"/>
          <a:lstStyle/>
          <a:p>
            <a:r>
              <a:rPr lang="en-US" sz="1200" dirty="0">
                <a:solidFill>
                  <a:srgbClr val="4A6670"/>
                </a:solidFill>
                <a:latin typeface="Calibri" pitchFamily="34" charset="0"/>
                <a:ea typeface="Calibri" pitchFamily="34" charset="-122"/>
                <a:cs typeface="Calibri" pitchFamily="34" charset="-120"/>
              </a:rPr>
              <a:t>FFPE samples support DNA/methylation but yield degraded RNA and poor chromatin accessibility</a:t>
            </a:r>
            <a:endParaRPr lang="en-US" sz="1200" dirty="0"/>
          </a:p>
        </p:txBody>
      </p:sp>
      <p:sp>
        <p:nvSpPr>
          <p:cNvPr id="47" name="Shape 41"/>
          <p:cNvSpPr/>
          <p:nvPr/>
        </p:nvSpPr>
        <p:spPr>
          <a:xfrm>
            <a:off x="8656320" y="5047488"/>
            <a:ext cx="3108960" cy="304800"/>
          </a:xfrm>
          <a:prstGeom prst="rect">
            <a:avLst/>
          </a:prstGeom>
          <a:solidFill>
            <a:srgbClr val="D1EDE8"/>
          </a:solidFill>
          <a:ln/>
        </p:spPr>
        <p:txBody>
          <a:bodyPr/>
          <a:lstStyle/>
          <a:p>
            <a:endParaRPr lang="en-US" sz="2400"/>
          </a:p>
        </p:txBody>
      </p:sp>
      <p:sp>
        <p:nvSpPr>
          <p:cNvPr id="48" name="Text 42"/>
          <p:cNvSpPr/>
          <p:nvPr/>
        </p:nvSpPr>
        <p:spPr>
          <a:xfrm>
            <a:off x="8717280" y="5047488"/>
            <a:ext cx="2987040" cy="304800"/>
          </a:xfrm>
          <a:prstGeom prst="rect">
            <a:avLst/>
          </a:prstGeom>
          <a:noFill/>
          <a:ln/>
        </p:spPr>
        <p:txBody>
          <a:bodyPr wrap="square" lIns="0" tIns="0" rIns="0" bIns="0" rtlCol="0" anchor="ctr"/>
          <a:lstStyle/>
          <a:p>
            <a:r>
              <a:rPr lang="en-US" sz="1200" b="1" dirty="0">
                <a:solidFill>
                  <a:srgbClr val="088395"/>
                </a:solidFill>
                <a:latin typeface="Georgia" pitchFamily="34" charset="0"/>
                <a:ea typeface="Georgia" pitchFamily="34" charset="-122"/>
                <a:cs typeface="Georgia" pitchFamily="34" charset="-120"/>
              </a:rPr>
              <a:t>Impact</a:t>
            </a:r>
            <a:endParaRPr lang="en-US" sz="1200" dirty="0"/>
          </a:p>
        </p:txBody>
      </p:sp>
      <p:sp>
        <p:nvSpPr>
          <p:cNvPr id="49" name="Text 43"/>
          <p:cNvSpPr/>
          <p:nvPr/>
        </p:nvSpPr>
        <p:spPr>
          <a:xfrm>
            <a:off x="8717280" y="5388864"/>
            <a:ext cx="2987040" cy="670560"/>
          </a:xfrm>
          <a:prstGeom prst="rect">
            <a:avLst/>
          </a:prstGeom>
          <a:noFill/>
          <a:ln/>
        </p:spPr>
        <p:txBody>
          <a:bodyPr wrap="square" lIns="0" tIns="0" rIns="0" bIns="0" rtlCol="0" anchor="ctr"/>
          <a:lstStyle/>
          <a:p>
            <a:r>
              <a:rPr lang="en-US" sz="1200" dirty="0">
                <a:solidFill>
                  <a:srgbClr val="4A6670"/>
                </a:solidFill>
                <a:latin typeface="Calibri" pitchFamily="34" charset="0"/>
                <a:ea typeface="Calibri" pitchFamily="34" charset="-122"/>
                <a:cs typeface="Calibri" pitchFamily="34" charset="-120"/>
              </a:rPr>
              <a:t>Regulatory layers invisible; causal chain from mutation → phenotype is incomplete</a:t>
            </a:r>
            <a:endParaRPr lang="en-US" sz="1200" dirty="0"/>
          </a:p>
        </p:txBody>
      </p:sp>
      <p:sp>
        <p:nvSpPr>
          <p:cNvPr id="50" name="Text 44"/>
          <p:cNvSpPr/>
          <p:nvPr/>
        </p:nvSpPr>
        <p:spPr>
          <a:xfrm>
            <a:off x="8656320" y="6303264"/>
            <a:ext cx="3108960" cy="426720"/>
          </a:xfrm>
          <a:prstGeom prst="rect">
            <a:avLst/>
          </a:prstGeom>
          <a:noFill/>
          <a:ln/>
        </p:spPr>
        <p:txBody>
          <a:bodyPr wrap="square" lIns="0" tIns="0" rIns="0" bIns="0" rtlCol="0" anchor="b"/>
          <a:lstStyle/>
          <a:p>
            <a:r>
              <a:rPr lang="en-US" sz="1000" i="1" dirty="0">
                <a:solidFill>
                  <a:srgbClr val="4A6670"/>
                </a:solidFill>
                <a:latin typeface="Calibri" pitchFamily="34" charset="0"/>
                <a:ea typeface="Calibri" pitchFamily="34" charset="-122"/>
                <a:cs typeface="Calibri" pitchFamily="34" charset="-120"/>
              </a:rPr>
              <a:t>Barros et al. Brief Bioinform 2025</a:t>
            </a:r>
            <a:endParaRPr lang="en-US" sz="1000" dirty="0"/>
          </a:p>
          <a:p>
            <a:r>
              <a:rPr lang="en-US" sz="1000" i="1" dirty="0">
                <a:solidFill>
                  <a:srgbClr val="4A6670"/>
                </a:solidFill>
                <a:latin typeface="Calibri" pitchFamily="34" charset="0"/>
                <a:ea typeface="Calibri" pitchFamily="34" charset="-122"/>
                <a:cs typeface="Calibri" pitchFamily="34" charset="-120"/>
              </a:rPr>
              <a:t>Mohr et al. Biomedicines 2024</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828800"/>
          </a:xfrm>
          <a:prstGeom prst="rect">
            <a:avLst/>
          </a:prstGeom>
          <a:solidFill>
            <a:srgbClr val="0B2027"/>
          </a:solidFill>
          <a:ln/>
        </p:spPr>
        <p:txBody>
          <a:bodyPr/>
          <a:lstStyle/>
          <a:p>
            <a:endParaRPr lang="en-US" sz="2400"/>
          </a:p>
        </p:txBody>
      </p:sp>
      <p:pic>
        <p:nvPicPr>
          <p:cNvPr id="3" name="Image 0" descr="preencoded.png"/>
          <p:cNvPicPr>
            <a:picLocks noChangeAspect="1"/>
          </p:cNvPicPr>
          <p:nvPr/>
        </p:nvPicPr>
        <p:blipFill>
          <a:blip r:embed="rId3"/>
          <a:stretch>
            <a:fillRect/>
          </a:stretch>
        </p:blipFill>
        <p:spPr>
          <a:xfrm>
            <a:off x="731520" y="390144"/>
            <a:ext cx="585216" cy="585216"/>
          </a:xfrm>
          <a:prstGeom prst="rect">
            <a:avLst/>
          </a:prstGeom>
        </p:spPr>
      </p:pic>
      <p:sp>
        <p:nvSpPr>
          <p:cNvPr id="4" name="Text 1"/>
          <p:cNvSpPr/>
          <p:nvPr/>
        </p:nvSpPr>
        <p:spPr>
          <a:xfrm>
            <a:off x="1524000" y="219456"/>
            <a:ext cx="9997440" cy="792480"/>
          </a:xfrm>
          <a:prstGeom prst="rect">
            <a:avLst/>
          </a:prstGeom>
          <a:noFill/>
          <a:ln/>
        </p:spPr>
        <p:txBody>
          <a:bodyPr wrap="square" lIns="0" tIns="0" rIns="0" bIns="0" rtlCol="0" anchor="ctr"/>
          <a:lstStyle/>
          <a:p>
            <a:r>
              <a:rPr lang="en-US" sz="3200" b="1" dirty="0">
                <a:solidFill>
                  <a:srgbClr val="FFFFFF"/>
                </a:solidFill>
                <a:latin typeface="Georgia" pitchFamily="34" charset="0"/>
                <a:ea typeface="Georgia" pitchFamily="34" charset="-122"/>
                <a:cs typeface="Georgia" pitchFamily="34" charset="-120"/>
              </a:rPr>
              <a:t>Computational Strategies for Heterogeneity &amp; Missingness</a:t>
            </a:r>
            <a:endParaRPr lang="en-US" sz="3200" dirty="0"/>
          </a:p>
        </p:txBody>
      </p:sp>
      <p:sp>
        <p:nvSpPr>
          <p:cNvPr id="5" name="Text 2"/>
          <p:cNvSpPr/>
          <p:nvPr/>
        </p:nvSpPr>
        <p:spPr>
          <a:xfrm>
            <a:off x="1524000" y="950976"/>
            <a:ext cx="9997440" cy="512064"/>
          </a:xfrm>
          <a:prstGeom prst="rect">
            <a:avLst/>
          </a:prstGeom>
          <a:noFill/>
          <a:ln/>
        </p:spPr>
        <p:txBody>
          <a:bodyPr wrap="square" lIns="0" tIns="0" rIns="0" bIns="0" rtlCol="0" anchor="ctr"/>
          <a:lstStyle/>
          <a:p>
            <a:r>
              <a:rPr lang="en-US" sz="1733" i="1" dirty="0">
                <a:solidFill>
                  <a:srgbClr val="58E0C3"/>
                </a:solidFill>
                <a:latin typeface="Calibri" pitchFamily="34" charset="0"/>
                <a:ea typeface="Calibri" pitchFamily="34" charset="-122"/>
                <a:cs typeface="Calibri" pitchFamily="34" charset="-120"/>
              </a:rPr>
              <a:t>How modern tools address the fundamental data incompatibilities</a:t>
            </a:r>
            <a:endParaRPr lang="en-US" sz="1733" dirty="0"/>
          </a:p>
        </p:txBody>
      </p:sp>
      <p:sp>
        <p:nvSpPr>
          <p:cNvPr id="6" name="Shape 3"/>
          <p:cNvSpPr/>
          <p:nvPr/>
        </p:nvSpPr>
        <p:spPr>
          <a:xfrm>
            <a:off x="609600" y="2133600"/>
            <a:ext cx="5242560" cy="4328160"/>
          </a:xfrm>
          <a:prstGeom prst="rect">
            <a:avLst/>
          </a:prstGeom>
          <a:solidFill>
            <a:srgbClr val="FFFFFF"/>
          </a:solidFill>
          <a:ln/>
          <a:effectLst>
            <a:outerShdw blurRad="63500" dist="25400" dir="16200000" algn="bl" rotWithShape="0">
              <a:srgbClr val="C0C0C0">
                <a:alpha val="25000"/>
              </a:srgbClr>
            </a:outerShdw>
          </a:effectLst>
        </p:spPr>
        <p:txBody>
          <a:bodyPr/>
          <a:lstStyle/>
          <a:p>
            <a:endParaRPr lang="en-US" sz="2400"/>
          </a:p>
        </p:txBody>
      </p:sp>
      <p:sp>
        <p:nvSpPr>
          <p:cNvPr id="7" name="Shape 4"/>
          <p:cNvSpPr/>
          <p:nvPr/>
        </p:nvSpPr>
        <p:spPr>
          <a:xfrm>
            <a:off x="609600" y="2133600"/>
            <a:ext cx="5242560" cy="85344"/>
          </a:xfrm>
          <a:prstGeom prst="rect">
            <a:avLst/>
          </a:prstGeom>
          <a:solidFill>
            <a:srgbClr val="088395"/>
          </a:solidFill>
          <a:ln/>
        </p:spPr>
        <p:txBody>
          <a:bodyPr/>
          <a:lstStyle/>
          <a:p>
            <a:endParaRPr lang="en-US" sz="2400"/>
          </a:p>
        </p:txBody>
      </p:sp>
      <p:sp>
        <p:nvSpPr>
          <p:cNvPr id="8" name="Text 5"/>
          <p:cNvSpPr/>
          <p:nvPr/>
        </p:nvSpPr>
        <p:spPr>
          <a:xfrm>
            <a:off x="853440" y="2353056"/>
            <a:ext cx="4632960" cy="426720"/>
          </a:xfrm>
          <a:prstGeom prst="rect">
            <a:avLst/>
          </a:prstGeom>
          <a:noFill/>
          <a:ln/>
        </p:spPr>
        <p:txBody>
          <a:bodyPr wrap="square" lIns="0" tIns="0" rIns="0" bIns="0" rtlCol="0" anchor="ctr"/>
          <a:lstStyle/>
          <a:p>
            <a:r>
              <a:rPr lang="en-US" sz="2133" b="1" dirty="0">
                <a:solidFill>
                  <a:srgbClr val="088395"/>
                </a:solidFill>
                <a:latin typeface="Georgia" pitchFamily="34" charset="0"/>
                <a:ea typeface="Georgia" pitchFamily="34" charset="-122"/>
                <a:cs typeface="Georgia" pitchFamily="34" charset="-120"/>
              </a:rPr>
              <a:t>Handling Heterogeneity</a:t>
            </a:r>
            <a:endParaRPr lang="en-US" sz="2133" dirty="0"/>
          </a:p>
        </p:txBody>
      </p:sp>
      <p:pic>
        <p:nvPicPr>
          <p:cNvPr id="9" name="Image 1" descr="preencoded.png"/>
          <p:cNvPicPr>
            <a:picLocks noChangeAspect="1"/>
          </p:cNvPicPr>
          <p:nvPr/>
        </p:nvPicPr>
        <p:blipFill>
          <a:blip r:embed="rId4"/>
          <a:stretch>
            <a:fillRect/>
          </a:stretch>
        </p:blipFill>
        <p:spPr>
          <a:xfrm>
            <a:off x="853440" y="2889504"/>
            <a:ext cx="268224" cy="268224"/>
          </a:xfrm>
          <a:prstGeom prst="rect">
            <a:avLst/>
          </a:prstGeom>
        </p:spPr>
      </p:pic>
      <p:sp>
        <p:nvSpPr>
          <p:cNvPr id="10" name="Text 6"/>
          <p:cNvSpPr/>
          <p:nvPr/>
        </p:nvSpPr>
        <p:spPr>
          <a:xfrm>
            <a:off x="1219200" y="2865120"/>
            <a:ext cx="3657600" cy="304800"/>
          </a:xfrm>
          <a:prstGeom prst="rect">
            <a:avLst/>
          </a:prstGeom>
          <a:noFill/>
          <a:ln/>
        </p:spPr>
        <p:txBody>
          <a:bodyPr wrap="square" lIns="0" tIns="0" rIns="0" bIns="0" rtlCol="0" anchor="ctr"/>
          <a:lstStyle/>
          <a:p>
            <a:r>
              <a:rPr lang="en-US" sz="1467" b="1" dirty="0">
                <a:solidFill>
                  <a:srgbClr val="1A2B34"/>
                </a:solidFill>
                <a:latin typeface="Georgia" pitchFamily="34" charset="0"/>
                <a:ea typeface="Georgia" pitchFamily="34" charset="-122"/>
                <a:cs typeface="Georgia" pitchFamily="34" charset="-120"/>
              </a:rPr>
              <a:t>Modality-Specific Encoders</a:t>
            </a:r>
            <a:endParaRPr lang="en-US" sz="1467" dirty="0"/>
          </a:p>
        </p:txBody>
      </p:sp>
      <p:sp>
        <p:nvSpPr>
          <p:cNvPr id="11" name="Text 7"/>
          <p:cNvSpPr/>
          <p:nvPr/>
        </p:nvSpPr>
        <p:spPr>
          <a:xfrm>
            <a:off x="1219200" y="3182112"/>
            <a:ext cx="4389120" cy="512064"/>
          </a:xfrm>
          <a:prstGeom prst="rect">
            <a:avLst/>
          </a:prstGeom>
          <a:noFill/>
          <a:ln/>
        </p:spPr>
        <p:txBody>
          <a:bodyPr wrap="square" lIns="0" tIns="0" rIns="0" bIns="0" rtlCol="0" anchor="ctr"/>
          <a:lstStyle/>
          <a:p>
            <a:r>
              <a:rPr lang="en-US" sz="1200" dirty="0">
                <a:solidFill>
                  <a:srgbClr val="4A6670"/>
                </a:solidFill>
                <a:latin typeface="Calibri" pitchFamily="34" charset="0"/>
                <a:ea typeface="Calibri" pitchFamily="34" charset="-122"/>
                <a:cs typeface="Calibri" pitchFamily="34" charset="-120"/>
              </a:rPr>
              <a:t>Process each omics through its own encoder (VAE, GNN) that respects the data's native distribution before projecting into a shared latent space.</a:t>
            </a:r>
            <a:endParaRPr lang="en-US" sz="1200" dirty="0"/>
          </a:p>
        </p:txBody>
      </p:sp>
      <p:sp>
        <p:nvSpPr>
          <p:cNvPr id="12" name="Text 8"/>
          <p:cNvSpPr/>
          <p:nvPr/>
        </p:nvSpPr>
        <p:spPr>
          <a:xfrm>
            <a:off x="1219200" y="3694176"/>
            <a:ext cx="3048000" cy="243840"/>
          </a:xfrm>
          <a:prstGeom prst="rect">
            <a:avLst/>
          </a:prstGeom>
          <a:noFill/>
          <a:ln/>
        </p:spPr>
        <p:txBody>
          <a:bodyPr wrap="square" lIns="0" tIns="0" rIns="0" bIns="0" rtlCol="0" anchor="ctr"/>
          <a:lstStyle/>
          <a:p>
            <a:r>
              <a:rPr lang="en-US" sz="1067" b="1" i="1" dirty="0">
                <a:solidFill>
                  <a:srgbClr val="088395"/>
                </a:solidFill>
                <a:latin typeface="Calibri" pitchFamily="34" charset="0"/>
                <a:ea typeface="Calibri" pitchFamily="34" charset="-122"/>
                <a:cs typeface="Calibri" pitchFamily="34" charset="-120"/>
              </a:rPr>
              <a:t>scGLUE · MultiVI · scECDA</a:t>
            </a:r>
            <a:endParaRPr lang="en-US" sz="1067" dirty="0"/>
          </a:p>
        </p:txBody>
      </p:sp>
      <p:pic>
        <p:nvPicPr>
          <p:cNvPr id="13" name="Image 2" descr="preencoded.png"/>
          <p:cNvPicPr>
            <a:picLocks noChangeAspect="1"/>
          </p:cNvPicPr>
          <p:nvPr/>
        </p:nvPicPr>
        <p:blipFill>
          <a:blip r:embed="rId4"/>
          <a:stretch>
            <a:fillRect/>
          </a:stretch>
        </p:blipFill>
        <p:spPr>
          <a:xfrm>
            <a:off x="853440" y="4084320"/>
            <a:ext cx="268224" cy="268224"/>
          </a:xfrm>
          <a:prstGeom prst="rect">
            <a:avLst/>
          </a:prstGeom>
        </p:spPr>
      </p:pic>
      <p:sp>
        <p:nvSpPr>
          <p:cNvPr id="14" name="Text 9"/>
          <p:cNvSpPr/>
          <p:nvPr/>
        </p:nvSpPr>
        <p:spPr>
          <a:xfrm>
            <a:off x="1219200" y="4059936"/>
            <a:ext cx="3657600" cy="304800"/>
          </a:xfrm>
          <a:prstGeom prst="rect">
            <a:avLst/>
          </a:prstGeom>
          <a:noFill/>
          <a:ln/>
        </p:spPr>
        <p:txBody>
          <a:bodyPr wrap="square" lIns="0" tIns="0" rIns="0" bIns="0" rtlCol="0" anchor="ctr"/>
          <a:lstStyle/>
          <a:p>
            <a:r>
              <a:rPr lang="en-US" sz="1467" b="1" dirty="0">
                <a:solidFill>
                  <a:srgbClr val="1A2B34"/>
                </a:solidFill>
                <a:latin typeface="Georgia" pitchFamily="34" charset="0"/>
                <a:ea typeface="Georgia" pitchFamily="34" charset="-122"/>
                <a:cs typeface="Georgia" pitchFamily="34" charset="-120"/>
              </a:rPr>
              <a:t>Adversarial Alignment</a:t>
            </a:r>
            <a:endParaRPr lang="en-US" sz="1467" dirty="0"/>
          </a:p>
        </p:txBody>
      </p:sp>
      <p:sp>
        <p:nvSpPr>
          <p:cNvPr id="15" name="Text 10"/>
          <p:cNvSpPr/>
          <p:nvPr/>
        </p:nvSpPr>
        <p:spPr>
          <a:xfrm>
            <a:off x="1219200" y="4376928"/>
            <a:ext cx="4389120" cy="512064"/>
          </a:xfrm>
          <a:prstGeom prst="rect">
            <a:avLst/>
          </a:prstGeom>
          <a:noFill/>
          <a:ln/>
        </p:spPr>
        <p:txBody>
          <a:bodyPr wrap="square" lIns="0" tIns="0" rIns="0" bIns="0" rtlCol="0" anchor="ctr"/>
          <a:lstStyle/>
          <a:p>
            <a:r>
              <a:rPr lang="en-US" sz="1200" dirty="0">
                <a:solidFill>
                  <a:srgbClr val="4A6670"/>
                </a:solidFill>
                <a:latin typeface="Calibri" pitchFamily="34" charset="0"/>
                <a:ea typeface="Calibri" pitchFamily="34" charset="-122"/>
                <a:cs typeface="Calibri" pitchFamily="34" charset="-120"/>
              </a:rPr>
              <a:t>Use discriminator networks to force embeddings from different modalities into a domain-invariant space, correcting for batch and platform effects.</a:t>
            </a:r>
            <a:endParaRPr lang="en-US" sz="1200" dirty="0"/>
          </a:p>
        </p:txBody>
      </p:sp>
      <p:sp>
        <p:nvSpPr>
          <p:cNvPr id="16" name="Text 11"/>
          <p:cNvSpPr/>
          <p:nvPr/>
        </p:nvSpPr>
        <p:spPr>
          <a:xfrm>
            <a:off x="1219200" y="4888992"/>
            <a:ext cx="3048000" cy="243840"/>
          </a:xfrm>
          <a:prstGeom prst="rect">
            <a:avLst/>
          </a:prstGeom>
          <a:noFill/>
          <a:ln/>
        </p:spPr>
        <p:txBody>
          <a:bodyPr wrap="square" lIns="0" tIns="0" rIns="0" bIns="0" rtlCol="0" anchor="ctr"/>
          <a:lstStyle/>
          <a:p>
            <a:r>
              <a:rPr lang="en-US" sz="1067" b="1" i="1" dirty="0">
                <a:solidFill>
                  <a:srgbClr val="088395"/>
                </a:solidFill>
                <a:latin typeface="Calibri" pitchFamily="34" charset="0"/>
                <a:ea typeface="Calibri" pitchFamily="34" charset="-122"/>
                <a:cs typeface="Calibri" pitchFamily="34" charset="-120"/>
              </a:rPr>
              <a:t>sciCAN · GLUE · totalVI</a:t>
            </a:r>
            <a:endParaRPr lang="en-US" sz="1067" dirty="0"/>
          </a:p>
        </p:txBody>
      </p:sp>
      <p:pic>
        <p:nvPicPr>
          <p:cNvPr id="17" name="Image 3" descr="preencoded.png"/>
          <p:cNvPicPr>
            <a:picLocks noChangeAspect="1"/>
          </p:cNvPicPr>
          <p:nvPr/>
        </p:nvPicPr>
        <p:blipFill>
          <a:blip r:embed="rId4"/>
          <a:stretch>
            <a:fillRect/>
          </a:stretch>
        </p:blipFill>
        <p:spPr>
          <a:xfrm>
            <a:off x="853440" y="5279136"/>
            <a:ext cx="268224" cy="268224"/>
          </a:xfrm>
          <a:prstGeom prst="rect">
            <a:avLst/>
          </a:prstGeom>
        </p:spPr>
      </p:pic>
      <p:sp>
        <p:nvSpPr>
          <p:cNvPr id="18" name="Text 12"/>
          <p:cNvSpPr/>
          <p:nvPr/>
        </p:nvSpPr>
        <p:spPr>
          <a:xfrm>
            <a:off x="1219200" y="5254752"/>
            <a:ext cx="3657600" cy="304800"/>
          </a:xfrm>
          <a:prstGeom prst="rect">
            <a:avLst/>
          </a:prstGeom>
          <a:noFill/>
          <a:ln/>
        </p:spPr>
        <p:txBody>
          <a:bodyPr wrap="square" lIns="0" tIns="0" rIns="0" bIns="0" rtlCol="0" anchor="ctr"/>
          <a:lstStyle/>
          <a:p>
            <a:r>
              <a:rPr lang="en-US" sz="1467" b="1" dirty="0">
                <a:solidFill>
                  <a:srgbClr val="1A2B34"/>
                </a:solidFill>
                <a:latin typeface="Georgia" pitchFamily="34" charset="0"/>
                <a:ea typeface="Georgia" pitchFamily="34" charset="-122"/>
                <a:cs typeface="Georgia" pitchFamily="34" charset="-120"/>
              </a:rPr>
              <a:t>Knowledge-Guided Graphs</a:t>
            </a:r>
            <a:endParaRPr lang="en-US" sz="1467" dirty="0"/>
          </a:p>
        </p:txBody>
      </p:sp>
      <p:sp>
        <p:nvSpPr>
          <p:cNvPr id="19" name="Text 13"/>
          <p:cNvSpPr/>
          <p:nvPr/>
        </p:nvSpPr>
        <p:spPr>
          <a:xfrm>
            <a:off x="1219200" y="5571744"/>
            <a:ext cx="4389120" cy="512064"/>
          </a:xfrm>
          <a:prstGeom prst="rect">
            <a:avLst/>
          </a:prstGeom>
          <a:noFill/>
          <a:ln/>
        </p:spPr>
        <p:txBody>
          <a:bodyPr wrap="square" lIns="0" tIns="0" rIns="0" bIns="0" rtlCol="0" anchor="ctr"/>
          <a:lstStyle/>
          <a:p>
            <a:r>
              <a:rPr lang="en-US" sz="1200" dirty="0">
                <a:solidFill>
                  <a:srgbClr val="4A6670"/>
                </a:solidFill>
                <a:latin typeface="Calibri" pitchFamily="34" charset="0"/>
                <a:ea typeface="Calibri" pitchFamily="34" charset="-122"/>
                <a:cs typeface="Calibri" pitchFamily="34" charset="-120"/>
              </a:rPr>
              <a:t>Encode known regulatory relationships (TF → target gene, peak → gene) as graph edges to bridge heterogeneous feature spaces with biological priors.</a:t>
            </a:r>
            <a:endParaRPr lang="en-US" sz="1200" dirty="0"/>
          </a:p>
        </p:txBody>
      </p:sp>
      <p:sp>
        <p:nvSpPr>
          <p:cNvPr id="20" name="Text 14"/>
          <p:cNvSpPr/>
          <p:nvPr/>
        </p:nvSpPr>
        <p:spPr>
          <a:xfrm>
            <a:off x="1219200" y="6083808"/>
            <a:ext cx="3048000" cy="243840"/>
          </a:xfrm>
          <a:prstGeom prst="rect">
            <a:avLst/>
          </a:prstGeom>
          <a:noFill/>
          <a:ln/>
        </p:spPr>
        <p:txBody>
          <a:bodyPr wrap="square" lIns="0" tIns="0" rIns="0" bIns="0" rtlCol="0" anchor="ctr"/>
          <a:lstStyle/>
          <a:p>
            <a:r>
              <a:rPr lang="en-US" sz="1067" b="1" i="1" dirty="0">
                <a:solidFill>
                  <a:srgbClr val="088395"/>
                </a:solidFill>
                <a:latin typeface="Calibri" pitchFamily="34" charset="0"/>
                <a:ea typeface="Calibri" pitchFamily="34" charset="-122"/>
                <a:cs typeface="Calibri" pitchFamily="34" charset="-120"/>
              </a:rPr>
              <a:t>SCENIC+ · LINGER · MultiGATE</a:t>
            </a:r>
            <a:endParaRPr lang="en-US" sz="1067" dirty="0"/>
          </a:p>
        </p:txBody>
      </p:sp>
      <p:sp>
        <p:nvSpPr>
          <p:cNvPr id="21" name="Shape 15"/>
          <p:cNvSpPr/>
          <p:nvPr/>
        </p:nvSpPr>
        <p:spPr>
          <a:xfrm>
            <a:off x="6339840" y="2133600"/>
            <a:ext cx="5242560" cy="4328160"/>
          </a:xfrm>
          <a:prstGeom prst="rect">
            <a:avLst/>
          </a:prstGeom>
          <a:solidFill>
            <a:srgbClr val="FFFFFF"/>
          </a:solidFill>
          <a:ln/>
          <a:effectLst>
            <a:outerShdw blurRad="63500" dist="25400" dir="16200000" algn="bl" rotWithShape="0">
              <a:srgbClr val="C0C0C0">
                <a:alpha val="25000"/>
              </a:srgbClr>
            </a:outerShdw>
          </a:effectLst>
        </p:spPr>
        <p:txBody>
          <a:bodyPr/>
          <a:lstStyle/>
          <a:p>
            <a:endParaRPr lang="en-US" sz="2400"/>
          </a:p>
        </p:txBody>
      </p:sp>
      <p:sp>
        <p:nvSpPr>
          <p:cNvPr id="22" name="Shape 16"/>
          <p:cNvSpPr/>
          <p:nvPr/>
        </p:nvSpPr>
        <p:spPr>
          <a:xfrm>
            <a:off x="6339840" y="2133600"/>
            <a:ext cx="5242560" cy="85344"/>
          </a:xfrm>
          <a:prstGeom prst="rect">
            <a:avLst/>
          </a:prstGeom>
          <a:solidFill>
            <a:srgbClr val="6B5B95"/>
          </a:solidFill>
          <a:ln/>
        </p:spPr>
        <p:txBody>
          <a:bodyPr/>
          <a:lstStyle/>
          <a:p>
            <a:endParaRPr lang="en-US" sz="2400"/>
          </a:p>
        </p:txBody>
      </p:sp>
      <p:sp>
        <p:nvSpPr>
          <p:cNvPr id="23" name="Text 17"/>
          <p:cNvSpPr/>
          <p:nvPr/>
        </p:nvSpPr>
        <p:spPr>
          <a:xfrm>
            <a:off x="6583680" y="2353056"/>
            <a:ext cx="4632960" cy="426720"/>
          </a:xfrm>
          <a:prstGeom prst="rect">
            <a:avLst/>
          </a:prstGeom>
          <a:noFill/>
          <a:ln/>
        </p:spPr>
        <p:txBody>
          <a:bodyPr wrap="square" lIns="0" tIns="0" rIns="0" bIns="0" rtlCol="0" anchor="ctr"/>
          <a:lstStyle/>
          <a:p>
            <a:r>
              <a:rPr lang="en-US" sz="2133" b="1" dirty="0">
                <a:solidFill>
                  <a:srgbClr val="6B5B95"/>
                </a:solidFill>
                <a:latin typeface="Georgia" pitchFamily="34" charset="0"/>
                <a:ea typeface="Georgia" pitchFamily="34" charset="-122"/>
                <a:cs typeface="Georgia" pitchFamily="34" charset="-120"/>
              </a:rPr>
              <a:t>Handling Missing Data</a:t>
            </a:r>
            <a:endParaRPr lang="en-US" sz="2133" dirty="0"/>
          </a:p>
        </p:txBody>
      </p:sp>
      <p:pic>
        <p:nvPicPr>
          <p:cNvPr id="24" name="Image 4" descr="preencoded.png"/>
          <p:cNvPicPr>
            <a:picLocks noChangeAspect="1"/>
          </p:cNvPicPr>
          <p:nvPr/>
        </p:nvPicPr>
        <p:blipFill>
          <a:blip r:embed="rId4"/>
          <a:stretch>
            <a:fillRect/>
          </a:stretch>
        </p:blipFill>
        <p:spPr>
          <a:xfrm>
            <a:off x="6583680" y="2889504"/>
            <a:ext cx="268224" cy="268224"/>
          </a:xfrm>
          <a:prstGeom prst="rect">
            <a:avLst/>
          </a:prstGeom>
        </p:spPr>
      </p:pic>
      <p:sp>
        <p:nvSpPr>
          <p:cNvPr id="25" name="Text 18"/>
          <p:cNvSpPr/>
          <p:nvPr/>
        </p:nvSpPr>
        <p:spPr>
          <a:xfrm>
            <a:off x="6949440" y="2865120"/>
            <a:ext cx="3657600" cy="304800"/>
          </a:xfrm>
          <a:prstGeom prst="rect">
            <a:avLst/>
          </a:prstGeom>
          <a:noFill/>
          <a:ln/>
        </p:spPr>
        <p:txBody>
          <a:bodyPr wrap="square" lIns="0" tIns="0" rIns="0" bIns="0" rtlCol="0" anchor="ctr"/>
          <a:lstStyle/>
          <a:p>
            <a:r>
              <a:rPr lang="en-US" sz="1467" b="1" dirty="0">
                <a:solidFill>
                  <a:srgbClr val="1A2B34"/>
                </a:solidFill>
                <a:latin typeface="Georgia" pitchFamily="34" charset="0"/>
                <a:ea typeface="Georgia" pitchFamily="34" charset="-122"/>
                <a:cs typeface="Georgia" pitchFamily="34" charset="-120"/>
              </a:rPr>
              <a:t>Imputation &amp; Denoising</a:t>
            </a:r>
            <a:endParaRPr lang="en-US" sz="1467" dirty="0"/>
          </a:p>
        </p:txBody>
      </p:sp>
      <p:sp>
        <p:nvSpPr>
          <p:cNvPr id="26" name="Text 19"/>
          <p:cNvSpPr/>
          <p:nvPr/>
        </p:nvSpPr>
        <p:spPr>
          <a:xfrm>
            <a:off x="6949440" y="3182112"/>
            <a:ext cx="4389120" cy="512064"/>
          </a:xfrm>
          <a:prstGeom prst="rect">
            <a:avLst/>
          </a:prstGeom>
          <a:noFill/>
          <a:ln/>
        </p:spPr>
        <p:txBody>
          <a:bodyPr wrap="square" lIns="0" tIns="0" rIns="0" bIns="0" rtlCol="0" anchor="ctr"/>
          <a:lstStyle/>
          <a:p>
            <a:r>
              <a:rPr lang="en-US" sz="1200" dirty="0">
                <a:solidFill>
                  <a:srgbClr val="4A6670"/>
                </a:solidFill>
                <a:latin typeface="Calibri" pitchFamily="34" charset="0"/>
                <a:ea typeface="Calibri" pitchFamily="34" charset="-122"/>
                <a:cs typeface="Calibri" pitchFamily="34" charset="-120"/>
              </a:rPr>
              <a:t>Recover dropped-out features using neighbor smoothing (MAGIC), model-based inference (SAVER, scOpen), or deep autoencoders (DCA) tailored to each data type's noise model.</a:t>
            </a:r>
            <a:endParaRPr lang="en-US" sz="1200" dirty="0"/>
          </a:p>
        </p:txBody>
      </p:sp>
      <p:sp>
        <p:nvSpPr>
          <p:cNvPr id="27" name="Text 20"/>
          <p:cNvSpPr/>
          <p:nvPr/>
        </p:nvSpPr>
        <p:spPr>
          <a:xfrm>
            <a:off x="6949440" y="3694176"/>
            <a:ext cx="3048000" cy="243840"/>
          </a:xfrm>
          <a:prstGeom prst="rect">
            <a:avLst/>
          </a:prstGeom>
          <a:noFill/>
          <a:ln/>
        </p:spPr>
        <p:txBody>
          <a:bodyPr wrap="square" lIns="0" tIns="0" rIns="0" bIns="0" rtlCol="0" anchor="ctr"/>
          <a:lstStyle/>
          <a:p>
            <a:r>
              <a:rPr lang="en-US" sz="1067" b="1" i="1" dirty="0">
                <a:solidFill>
                  <a:srgbClr val="6B5B95"/>
                </a:solidFill>
                <a:latin typeface="Calibri" pitchFamily="34" charset="0"/>
                <a:ea typeface="Calibri" pitchFamily="34" charset="-122"/>
                <a:cs typeface="Calibri" pitchFamily="34" charset="-120"/>
              </a:rPr>
              <a:t>MAGIC · scOpen · SAVER · DCA</a:t>
            </a:r>
            <a:endParaRPr lang="en-US" sz="1067" dirty="0"/>
          </a:p>
        </p:txBody>
      </p:sp>
      <p:pic>
        <p:nvPicPr>
          <p:cNvPr id="28" name="Image 5" descr="preencoded.png"/>
          <p:cNvPicPr>
            <a:picLocks noChangeAspect="1"/>
          </p:cNvPicPr>
          <p:nvPr/>
        </p:nvPicPr>
        <p:blipFill>
          <a:blip r:embed="rId4"/>
          <a:stretch>
            <a:fillRect/>
          </a:stretch>
        </p:blipFill>
        <p:spPr>
          <a:xfrm>
            <a:off x="6583680" y="4084320"/>
            <a:ext cx="268224" cy="268224"/>
          </a:xfrm>
          <a:prstGeom prst="rect">
            <a:avLst/>
          </a:prstGeom>
        </p:spPr>
      </p:pic>
      <p:sp>
        <p:nvSpPr>
          <p:cNvPr id="29" name="Text 21"/>
          <p:cNvSpPr/>
          <p:nvPr/>
        </p:nvSpPr>
        <p:spPr>
          <a:xfrm>
            <a:off x="6949440" y="4059936"/>
            <a:ext cx="3657600" cy="304800"/>
          </a:xfrm>
          <a:prstGeom prst="rect">
            <a:avLst/>
          </a:prstGeom>
          <a:noFill/>
          <a:ln/>
        </p:spPr>
        <p:txBody>
          <a:bodyPr wrap="square" lIns="0" tIns="0" rIns="0" bIns="0" rtlCol="0" anchor="ctr"/>
          <a:lstStyle/>
          <a:p>
            <a:r>
              <a:rPr lang="en-US" sz="1467" b="1" dirty="0">
                <a:solidFill>
                  <a:srgbClr val="1A2B34"/>
                </a:solidFill>
                <a:latin typeface="Georgia" pitchFamily="34" charset="0"/>
                <a:ea typeface="Georgia" pitchFamily="34" charset="-122"/>
                <a:cs typeface="Georgia" pitchFamily="34" charset="-120"/>
              </a:rPr>
              <a:t>Diagonal / Mosaic Integration</a:t>
            </a:r>
            <a:endParaRPr lang="en-US" sz="1467" dirty="0"/>
          </a:p>
        </p:txBody>
      </p:sp>
      <p:sp>
        <p:nvSpPr>
          <p:cNvPr id="30" name="Text 22"/>
          <p:cNvSpPr/>
          <p:nvPr/>
        </p:nvSpPr>
        <p:spPr>
          <a:xfrm>
            <a:off x="6949440" y="4376928"/>
            <a:ext cx="4389120" cy="512064"/>
          </a:xfrm>
          <a:prstGeom prst="rect">
            <a:avLst/>
          </a:prstGeom>
          <a:noFill/>
          <a:ln/>
        </p:spPr>
        <p:txBody>
          <a:bodyPr wrap="square" lIns="0" tIns="0" rIns="0" bIns="0" rtlCol="0" anchor="ctr"/>
          <a:lstStyle/>
          <a:p>
            <a:r>
              <a:rPr lang="en-US" sz="1200" dirty="0">
                <a:solidFill>
                  <a:srgbClr val="4A6670"/>
                </a:solidFill>
                <a:latin typeface="Calibri" pitchFamily="34" charset="0"/>
                <a:ea typeface="Calibri" pitchFamily="34" charset="-122"/>
                <a:cs typeface="Calibri" pitchFamily="34" charset="-120"/>
              </a:rPr>
              <a:t>Align unpaired samples across modalities using shared features, anchor-based transfer, or optimal transport to impute missing modalities per sample.</a:t>
            </a:r>
            <a:endParaRPr lang="en-US" sz="1200" dirty="0"/>
          </a:p>
        </p:txBody>
      </p:sp>
      <p:sp>
        <p:nvSpPr>
          <p:cNvPr id="31" name="Text 23"/>
          <p:cNvSpPr/>
          <p:nvPr/>
        </p:nvSpPr>
        <p:spPr>
          <a:xfrm>
            <a:off x="6949440" y="4888992"/>
            <a:ext cx="3048000" cy="243840"/>
          </a:xfrm>
          <a:prstGeom prst="rect">
            <a:avLst/>
          </a:prstGeom>
          <a:noFill/>
          <a:ln/>
        </p:spPr>
        <p:txBody>
          <a:bodyPr wrap="square" lIns="0" tIns="0" rIns="0" bIns="0" rtlCol="0" anchor="ctr"/>
          <a:lstStyle/>
          <a:p>
            <a:r>
              <a:rPr lang="en-US" sz="1067" b="1" i="1" dirty="0">
                <a:solidFill>
                  <a:srgbClr val="6B5B95"/>
                </a:solidFill>
                <a:latin typeface="Calibri" pitchFamily="34" charset="0"/>
                <a:ea typeface="Calibri" pitchFamily="34" charset="-122"/>
                <a:cs typeface="Calibri" pitchFamily="34" charset="-120"/>
              </a:rPr>
              <a:t>Seurat v5 Bridge · UINMF · StabMap</a:t>
            </a:r>
            <a:endParaRPr lang="en-US" sz="1067" dirty="0"/>
          </a:p>
        </p:txBody>
      </p:sp>
      <p:pic>
        <p:nvPicPr>
          <p:cNvPr id="32" name="Image 6" descr="preencoded.png"/>
          <p:cNvPicPr>
            <a:picLocks noChangeAspect="1"/>
          </p:cNvPicPr>
          <p:nvPr/>
        </p:nvPicPr>
        <p:blipFill>
          <a:blip r:embed="rId4"/>
          <a:stretch>
            <a:fillRect/>
          </a:stretch>
        </p:blipFill>
        <p:spPr>
          <a:xfrm>
            <a:off x="6583680" y="5279136"/>
            <a:ext cx="268224" cy="268224"/>
          </a:xfrm>
          <a:prstGeom prst="rect">
            <a:avLst/>
          </a:prstGeom>
        </p:spPr>
      </p:pic>
      <p:sp>
        <p:nvSpPr>
          <p:cNvPr id="33" name="Text 24"/>
          <p:cNvSpPr/>
          <p:nvPr/>
        </p:nvSpPr>
        <p:spPr>
          <a:xfrm>
            <a:off x="6949440" y="5254752"/>
            <a:ext cx="3657600" cy="304800"/>
          </a:xfrm>
          <a:prstGeom prst="rect">
            <a:avLst/>
          </a:prstGeom>
          <a:noFill/>
          <a:ln/>
        </p:spPr>
        <p:txBody>
          <a:bodyPr wrap="square" lIns="0" tIns="0" rIns="0" bIns="0" rtlCol="0" anchor="ctr"/>
          <a:lstStyle/>
          <a:p>
            <a:r>
              <a:rPr lang="en-US" sz="1467" b="1" dirty="0">
                <a:solidFill>
                  <a:srgbClr val="1A2B34"/>
                </a:solidFill>
                <a:latin typeface="Georgia" pitchFamily="34" charset="0"/>
                <a:ea typeface="Georgia" pitchFamily="34" charset="-122"/>
                <a:cs typeface="Georgia" pitchFamily="34" charset="-120"/>
              </a:rPr>
              <a:t>Probabilistic Frameworks</a:t>
            </a:r>
            <a:endParaRPr lang="en-US" sz="1467" dirty="0"/>
          </a:p>
        </p:txBody>
      </p:sp>
      <p:sp>
        <p:nvSpPr>
          <p:cNvPr id="34" name="Text 25"/>
          <p:cNvSpPr/>
          <p:nvPr/>
        </p:nvSpPr>
        <p:spPr>
          <a:xfrm>
            <a:off x="6949440" y="5571744"/>
            <a:ext cx="4389120" cy="512064"/>
          </a:xfrm>
          <a:prstGeom prst="rect">
            <a:avLst/>
          </a:prstGeom>
          <a:noFill/>
          <a:ln/>
        </p:spPr>
        <p:txBody>
          <a:bodyPr wrap="square" lIns="0" tIns="0" rIns="0" bIns="0" rtlCol="0" anchor="ctr"/>
          <a:lstStyle/>
          <a:p>
            <a:r>
              <a:rPr lang="en-US" sz="1200" dirty="0">
                <a:solidFill>
                  <a:srgbClr val="4A6670"/>
                </a:solidFill>
                <a:latin typeface="Calibri" pitchFamily="34" charset="0"/>
                <a:ea typeface="Calibri" pitchFamily="34" charset="-122"/>
                <a:cs typeface="Calibri" pitchFamily="34" charset="-120"/>
              </a:rPr>
              <a:t>Model missingness explicitly with probabilistic generative models that infer latent factors even when entire omics layers are absent for subsets of samples.</a:t>
            </a:r>
            <a:endParaRPr lang="en-US" sz="1200" dirty="0"/>
          </a:p>
        </p:txBody>
      </p:sp>
      <p:sp>
        <p:nvSpPr>
          <p:cNvPr id="35" name="Text 26"/>
          <p:cNvSpPr/>
          <p:nvPr/>
        </p:nvSpPr>
        <p:spPr>
          <a:xfrm>
            <a:off x="6949440" y="6083808"/>
            <a:ext cx="3048000" cy="243840"/>
          </a:xfrm>
          <a:prstGeom prst="rect">
            <a:avLst/>
          </a:prstGeom>
          <a:noFill/>
          <a:ln/>
        </p:spPr>
        <p:txBody>
          <a:bodyPr wrap="square" lIns="0" tIns="0" rIns="0" bIns="0" rtlCol="0" anchor="ctr"/>
          <a:lstStyle/>
          <a:p>
            <a:r>
              <a:rPr lang="en-US" sz="1067" b="1" i="1" dirty="0">
                <a:solidFill>
                  <a:srgbClr val="6B5B95"/>
                </a:solidFill>
                <a:latin typeface="Calibri" pitchFamily="34" charset="0"/>
                <a:ea typeface="Calibri" pitchFamily="34" charset="-122"/>
                <a:cs typeface="Calibri" pitchFamily="34" charset="-120"/>
              </a:rPr>
              <a:t>MOFA2 · MultiVI · MCIA</a:t>
            </a:r>
            <a:endParaRPr lang="en-US" sz="1067" dirty="0"/>
          </a:p>
        </p:txBody>
      </p:sp>
      <p:sp>
        <p:nvSpPr>
          <p:cNvPr id="36" name="Shape 27"/>
          <p:cNvSpPr/>
          <p:nvPr/>
        </p:nvSpPr>
        <p:spPr>
          <a:xfrm>
            <a:off x="609600" y="6583680"/>
            <a:ext cx="10972800" cy="12192"/>
          </a:xfrm>
          <a:prstGeom prst="rect">
            <a:avLst/>
          </a:prstGeom>
          <a:solidFill>
            <a:srgbClr val="088395">
              <a:alpha val="40000"/>
            </a:srgbClr>
          </a:solidFill>
          <a:ln/>
        </p:spPr>
        <p:txBody>
          <a:bodyPr/>
          <a:lstStyle/>
          <a:p>
            <a:endParaRPr lang="en-US" sz="2400"/>
          </a:p>
        </p:txBody>
      </p:sp>
      <p:sp>
        <p:nvSpPr>
          <p:cNvPr id="37" name="Text 28"/>
          <p:cNvSpPr/>
          <p:nvPr/>
        </p:nvSpPr>
        <p:spPr>
          <a:xfrm>
            <a:off x="609600" y="6608064"/>
            <a:ext cx="10972800" cy="268224"/>
          </a:xfrm>
          <a:prstGeom prst="rect">
            <a:avLst/>
          </a:prstGeom>
          <a:noFill/>
          <a:ln/>
        </p:spPr>
        <p:txBody>
          <a:bodyPr wrap="square" lIns="0" tIns="0" rIns="0" bIns="0" rtlCol="0" anchor="ctr"/>
          <a:lstStyle/>
          <a:p>
            <a:r>
              <a:rPr lang="en-US" sz="1200" i="1" dirty="0">
                <a:solidFill>
                  <a:srgbClr val="1A2B34"/>
                </a:solidFill>
                <a:latin typeface="Calibri" pitchFamily="34" charset="0"/>
                <a:ea typeface="Calibri" pitchFamily="34" charset="-122"/>
                <a:cs typeface="Calibri" pitchFamily="34" charset="-120"/>
              </a:rPr>
              <a:t>The best modern frameworks combine multiple strategies — e.g., MOFA2 handles missing modalities while scGLUE handles heterogeneous feature spaces in a single workflow.</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35890-5DD8-D029-7767-8AD749D8783D}"/>
            </a:ext>
          </a:extLst>
        </p:cNvPr>
        <p:cNvGrpSpPr/>
        <p:nvPr/>
      </p:nvGrpSpPr>
      <p:grpSpPr>
        <a:xfrm>
          <a:off x="0" y="0"/>
          <a:ext cx="0" cy="0"/>
          <a:chOff x="0" y="0"/>
          <a:chExt cx="0" cy="0"/>
        </a:xfrm>
      </p:grpSpPr>
    </p:spTree>
    <p:extLst>
      <p:ext uri="{BB962C8B-B14F-4D97-AF65-F5344CB8AC3E}">
        <p14:creationId xmlns:p14="http://schemas.microsoft.com/office/powerpoint/2010/main" val="2299569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2500</Words>
  <Application>Microsoft Office PowerPoint</Application>
  <PresentationFormat>Widescreen</PresentationFormat>
  <Paragraphs>237</Paragraphs>
  <Slides>9</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Aptos Display</vt: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of Florida Academic Health Center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Brant,Jason Orr</dc:creator>
  <cp:lastModifiedBy>Brant,Jason Orr</cp:lastModifiedBy>
  <cp:revision>1</cp:revision>
  <dcterms:created xsi:type="dcterms:W3CDTF">2026-02-03T18:38:02Z</dcterms:created>
  <dcterms:modified xsi:type="dcterms:W3CDTF">2026-02-03T18:39:24Z</dcterms:modified>
</cp:coreProperties>
</file>